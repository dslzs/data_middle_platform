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文级别 1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5" cy="6369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演示文稿标题"/>
          <p:cNvSpPr txBox="1"/>
          <p:nvPr>
            <p:ph type="title" hasCustomPrompt="1"/>
          </p:nvPr>
        </p:nvSpPr>
        <p:spPr>
          <a:xfrm>
            <a:off x="1206496" y="2574991"/>
            <a:ext cx="21971005" cy="4648204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演示文稿标题</a:t>
            </a:r>
          </a:p>
        </p:txBody>
      </p:sp>
      <p:sp>
        <p:nvSpPr>
          <p:cNvPr id="13" name="正文级别 1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1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鳄梨和酸橙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22" name="演示文稿标题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演示文稿标题</a:t>
            </a:r>
          </a:p>
        </p:txBody>
      </p:sp>
      <p:sp>
        <p:nvSpPr>
          <p:cNvPr id="23" name="正文级别 1…"/>
          <p:cNvSpPr txBox="1"/>
          <p:nvPr>
            <p:ph type="body" sz="quarter" idx="1" hasCustomPrompt="1"/>
          </p:nvPr>
        </p:nvSpPr>
        <p:spPr>
          <a:xfrm>
            <a:off x="1207690" y="1106137"/>
            <a:ext cx="21968621" cy="6369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正文级别 1…"/>
          <p:cNvSpPr txBox="1"/>
          <p:nvPr>
            <p:ph type="body" sz="quarter" idx="22" hasCustomPrompt="1"/>
          </p:nvPr>
        </p:nvSpPr>
        <p:spPr>
          <a:xfrm>
            <a:off x="1206500" y="11609909"/>
            <a:ext cx="21971000" cy="111695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2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照片（备选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一碗三文鱼饼、沙拉和鹰嘴豆泥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33" name="幻灯片标题"/>
          <p:cNvSpPr txBox="1"/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pPr/>
            <a:r>
              <a:t>幻灯片标题</a:t>
            </a:r>
          </a:p>
        </p:txBody>
      </p:sp>
      <p:sp>
        <p:nvSpPr>
          <p:cNvPr id="34" name="正文级别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幻灯片编号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幻灯片标题"/>
          <p:cNvSpPr txBox="1"/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43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" name="正文级别 1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4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幻灯片项目符号文本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1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62" name="一碗宽意大利面配有欧芹黄油、烤榛子和帕尔马干酪"/>
          <p:cNvSpPr/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6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6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实时视频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2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7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7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实时视频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2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8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8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章节标题"/>
          <p:cNvSpPr txBox="1"/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章节标题</a:t>
            </a:r>
          </a:p>
        </p:txBody>
      </p:sp>
      <p:sp>
        <p:nvSpPr>
          <p:cNvPr id="92" name="幻灯片编号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幻灯片标题"/>
          <p:cNvSpPr txBox="1"/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100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议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议程标题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议程标题</a:t>
            </a:r>
          </a:p>
        </p:txBody>
      </p:sp>
      <p:sp>
        <p:nvSpPr>
          <p:cNvPr id="109" name="正文级别 1…"/>
          <p:cNvSpPr txBox="1"/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议程副标题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正文级别 1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99" sz="5500"/>
            </a:lvl1pPr>
          </a:lstStyle>
          <a:p>
            <a:pPr/>
            <a:r>
              <a:t>议程主题</a:t>
            </a:r>
          </a:p>
        </p:txBody>
      </p:sp>
      <p:sp>
        <p:nvSpPr>
          <p:cNvPr id="1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正文级别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说明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显著事实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正文级别 1…"/>
          <p:cNvSpPr txBox="1"/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事实信息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</a:lstStyle>
          <a:p>
            <a:pPr/>
            <a:r>
              <a:t>事实信息</a:t>
            </a:r>
          </a:p>
        </p:txBody>
      </p:sp>
      <p:sp>
        <p:nvSpPr>
          <p:cNvPr id="12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引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正文级别 1…"/>
          <p:cNvSpPr txBox="1"/>
          <p:nvPr>
            <p:ph type="body" sz="quarter" idx="1" hasCustomPrompt="1"/>
          </p:nvPr>
        </p:nvSpPr>
        <p:spPr>
          <a:xfrm>
            <a:off x="2430022" y="10675453"/>
            <a:ext cx="20200057" cy="6369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出自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正文级别 1…"/>
          <p:cNvSpPr txBox="1"/>
          <p:nvPr>
            <p:ph type="body" sz="half" idx="21" hasCustomPrompt="1"/>
          </p:nvPr>
        </p:nvSpPr>
        <p:spPr>
          <a:xfrm>
            <a:off x="1753923" y="4939860"/>
            <a:ext cx="20876154" cy="3836283"/>
          </a:xfrm>
          <a:prstGeom prst="rect">
            <a:avLst/>
          </a:prstGeom>
        </p:spPr>
        <p:txBody>
          <a:bodyPr numCol="1" spcCol="38100"/>
          <a:lstStyle>
            <a:lvl1pPr marL="131850" indent="37172">
              <a:spcBef>
                <a:spcPts val="0"/>
              </a:spcBef>
              <a:buSzTx/>
              <a:buNone/>
              <a:defRPr spc="-20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“著名引文”</a:t>
            </a:r>
          </a:p>
        </p:txBody>
      </p:sp>
      <p:sp>
        <p:nvSpPr>
          <p:cNvPr id="137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照片 - 3 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一碗沙拉配有炒饭、水煮蛋和一双筷子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5" name="一碗三文鱼饼、沙拉和鹰嘴豆泥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6" name="一碗宽意大利面配有欧芹黄油、烤榛子和帕尔马干酪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7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一碗沙拉配有炒饭、水煮蛋和一双筷子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5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文级别 1…"/>
          <p:cNvSpPr txBox="1"/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numCol="2" spcCol="1098550">
            <a:normAutofit fontScale="100000" lnSpcReduction="0"/>
          </a:bodyPr>
          <a:lstStyle/>
          <a:p>
            <a:pPr/>
            <a:r>
              <a:t>幻灯片项目符号文本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" name="标题文本"/>
          <p:cNvSpPr txBox="1"/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1.tif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1.png"/><Relationship Id="rId6" Type="http://schemas.openxmlformats.org/officeDocument/2006/relationships/image" Target="../media/image2.tif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jpe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Image 0" descr="Image 0"/>
          <p:cNvPicPr>
            <a:picLocks noChangeAspect="1"/>
          </p:cNvPicPr>
          <p:nvPr/>
        </p:nvPicPr>
        <p:blipFill>
          <a:blip r:embed="rId3">
            <a:alphaModFix amt="56000"/>
            <a:extLst/>
          </a:blip>
          <a:stretch>
            <a:fillRect/>
          </a:stretch>
        </p:blipFill>
        <p:spPr>
          <a:xfrm>
            <a:off x="0" y="0"/>
            <a:ext cx="24382731" cy="1371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95009" y="7072630"/>
            <a:ext cx="13647422" cy="14732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 2" descr="Image 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 rot="10800000">
            <a:off x="1075688" y="11797030"/>
            <a:ext cx="3407413" cy="754384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Text 0"/>
          <p:cNvSpPr txBox="1"/>
          <p:nvPr/>
        </p:nvSpPr>
        <p:spPr>
          <a:xfrm>
            <a:off x="10999778" y="4634865"/>
            <a:ext cx="3237888" cy="2578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169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75" name="Text 1"/>
          <p:cNvSpPr txBox="1"/>
          <p:nvPr/>
        </p:nvSpPr>
        <p:spPr>
          <a:xfrm>
            <a:off x="6011545" y="7287259"/>
            <a:ext cx="13214352" cy="120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6800">
                <a:solidFill>
                  <a:srgbClr val="0D0D0D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数据应用与业务价值</a:t>
            </a:r>
          </a:p>
        </p:txBody>
      </p:sp>
      <p:sp>
        <p:nvSpPr>
          <p:cNvPr id="176" name="Shape 2"/>
          <p:cNvSpPr/>
          <p:nvPr/>
        </p:nvSpPr>
        <p:spPr>
          <a:xfrm>
            <a:off x="18637093" y="12665132"/>
            <a:ext cx="4127504" cy="4"/>
          </a:xfrm>
          <a:prstGeom prst="line">
            <a:avLst/>
          </a:prstGeom>
          <a:ln w="12700">
            <a:solidFill>
              <a:srgbClr val="000000">
                <a:alpha val="21961"/>
              </a:srgbClr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77" name="Image 3" descr="Image 3"/>
          <p:cNvPicPr>
            <a:picLocks noChangeAspect="1"/>
          </p:cNvPicPr>
          <p:nvPr/>
        </p:nvPicPr>
        <p:blipFill>
          <a:blip r:embed="rId6">
            <a:alphaModFix amt="40000"/>
            <a:extLst/>
          </a:blip>
          <a:stretch>
            <a:fillRect/>
          </a:stretch>
        </p:blipFill>
        <p:spPr>
          <a:xfrm flipH="1" rot="10800000">
            <a:off x="1703070" y="1261110"/>
            <a:ext cx="1524004" cy="152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78" name="Image 4" descr="Image 4"/>
          <p:cNvPicPr>
            <a:picLocks noChangeAspect="1"/>
          </p:cNvPicPr>
          <p:nvPr/>
        </p:nvPicPr>
        <p:blipFill>
          <a:blip r:embed="rId6">
            <a:alphaModFix amt="40000"/>
            <a:extLst/>
          </a:blip>
          <a:stretch>
            <a:fillRect/>
          </a:stretch>
        </p:blipFill>
        <p:spPr>
          <a:xfrm flipH="1" rot="10800000">
            <a:off x="1703070" y="1522730"/>
            <a:ext cx="1524004" cy="15240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 txBox="1"/>
          <p:nvPr/>
        </p:nvSpPr>
        <p:spPr>
          <a:xfrm>
            <a:off x="1343660" y="1506218"/>
            <a:ext cx="21299170" cy="127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50000"/>
              </a:lnSpc>
              <a:spcBef>
                <a:spcPts val="0"/>
              </a:spcBef>
              <a:defRPr sz="7200">
                <a:solidFill>
                  <a:srgbClr val="0D0D0D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数据驱动六大业务场景落地</a:t>
            </a:r>
          </a:p>
        </p:txBody>
      </p:sp>
      <p:sp>
        <p:nvSpPr>
          <p:cNvPr id="181" name="Shape 1"/>
          <p:cNvSpPr/>
          <p:nvPr/>
        </p:nvSpPr>
        <p:spPr>
          <a:xfrm flipH="1">
            <a:off x="12209781" y="5028277"/>
            <a:ext cx="4" cy="5156204"/>
          </a:xfrm>
          <a:prstGeom prst="line">
            <a:avLst/>
          </a:prstGeom>
          <a:ln w="38100">
            <a:solidFill>
              <a:srgbClr val="5E98F5">
                <a:alpha val="30500"/>
              </a:srgbClr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2" name="Shape 2"/>
          <p:cNvSpPr/>
          <p:nvPr/>
        </p:nvSpPr>
        <p:spPr>
          <a:xfrm>
            <a:off x="18699480" y="12743180"/>
            <a:ext cx="4127504" cy="4"/>
          </a:xfrm>
          <a:prstGeom prst="line">
            <a:avLst/>
          </a:prstGeom>
          <a:ln w="12700">
            <a:solidFill>
              <a:srgbClr val="000000">
                <a:alpha val="21961"/>
              </a:srgbClr>
            </a:solidFill>
          </a:ln>
        </p:spPr>
        <p:txBody>
          <a:bodyPr lIns="45718" tIns="45718" rIns="45718" bIns="45718"/>
          <a:lstStyle/>
          <a:p>
            <a:pPr/>
          </a:p>
        </p:txBody>
      </p:sp>
      <p:pic>
        <p:nvPicPr>
          <p:cNvPr id="183" name="Image 0" descr="Image 0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tretch>
            <a:fillRect/>
          </a:stretch>
        </p:blipFill>
        <p:spPr>
          <a:xfrm flipH="1" rot="10800000">
            <a:off x="1765300" y="1338580"/>
            <a:ext cx="1524000" cy="152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84" name="Image 1" descr="Image 1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tretch>
            <a:fillRect/>
          </a:stretch>
        </p:blipFill>
        <p:spPr>
          <a:xfrm flipH="1" rot="10800000">
            <a:off x="1765300" y="1600200"/>
            <a:ext cx="1524000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185" name="Text 6"/>
          <p:cNvSpPr txBox="1"/>
          <p:nvPr/>
        </p:nvSpPr>
        <p:spPr>
          <a:xfrm>
            <a:off x="5463540" y="4737100"/>
            <a:ext cx="1756414" cy="1219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8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86" name="Text 7"/>
          <p:cNvSpPr txBox="1"/>
          <p:nvPr/>
        </p:nvSpPr>
        <p:spPr>
          <a:xfrm>
            <a:off x="1343660" y="6301101"/>
            <a:ext cx="9996173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全域感知与空间规划</a:t>
            </a:r>
          </a:p>
        </p:txBody>
      </p:sp>
      <p:sp>
        <p:nvSpPr>
          <p:cNvPr id="187" name="Text 8"/>
          <p:cNvSpPr txBox="1"/>
          <p:nvPr/>
        </p:nvSpPr>
        <p:spPr>
          <a:xfrm>
            <a:off x="2258696" y="7357108"/>
            <a:ext cx="8166101" cy="355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just" defTabSz="1828800">
              <a:lnSpc>
                <a:spcPct val="150000"/>
              </a:lnSpc>
              <a:spcBef>
                <a:spcPts val="0"/>
              </a:spcBef>
              <a:defRPr sz="28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全域态势看板一屏监测在线率订单量营收趋势；通勤走廊分析识别职住分离优化公交专线；夜经济引力量化消费热力辅助商圈规划；枢纽接驳效能评估机场车站最后一公里瓶颈，数据层到业务层价值转化清晰可见。</a:t>
            </a:r>
          </a:p>
        </p:txBody>
      </p:sp>
      <p:sp>
        <p:nvSpPr>
          <p:cNvPr id="188" name="Text 9"/>
          <p:cNvSpPr txBox="1"/>
          <p:nvPr/>
        </p:nvSpPr>
        <p:spPr>
          <a:xfrm>
            <a:off x="17199610" y="4737100"/>
            <a:ext cx="1756414" cy="1219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8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89" name="Text 10"/>
          <p:cNvSpPr txBox="1"/>
          <p:nvPr/>
        </p:nvSpPr>
        <p:spPr>
          <a:xfrm>
            <a:off x="13079730" y="6301101"/>
            <a:ext cx="9996174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精细监管与主动预警</a:t>
            </a:r>
          </a:p>
        </p:txBody>
      </p:sp>
      <p:sp>
        <p:nvSpPr>
          <p:cNvPr id="190" name="Text 11"/>
          <p:cNvSpPr txBox="1"/>
          <p:nvPr/>
        </p:nvSpPr>
        <p:spPr>
          <a:xfrm>
            <a:off x="13994764" y="7357109"/>
            <a:ext cx="8166104" cy="279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just" defTabSz="1828800">
              <a:lnSpc>
                <a:spcPct val="150000"/>
              </a:lnSpc>
              <a:spcBef>
                <a:spcPts val="0"/>
              </a:spcBef>
              <a:defRPr sz="28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轨迹复盘回溯穿透DWD明细实现任意行程时空还原，投诉定责事故取证有据可依；营运异常预警实时识别绕路拒载疲劳驾驶，从被动事后处置跃迁为主动事前预警，治理能力本质提升。</a:t>
            </a:r>
          </a:p>
        </p:txBody>
      </p:sp>
      <p:sp>
        <p:nvSpPr>
          <p:cNvPr id="191" name="文本框 15"/>
          <p:cNvSpPr txBox="1"/>
          <p:nvPr>
            <p:ph type="sldNum" sz="quarter" idx="4294967295"/>
          </p:nvPr>
        </p:nvSpPr>
        <p:spPr>
          <a:xfrm>
            <a:off x="23164832" y="12861656"/>
            <a:ext cx="449848" cy="7289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 anchor="t"/>
          <a:lstStyle>
            <a:lvl1pPr algn="l" defTabSz="1828800">
              <a:defRPr sz="36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 txBox="1"/>
          <p:nvPr/>
        </p:nvSpPr>
        <p:spPr>
          <a:xfrm>
            <a:off x="1343660" y="1506218"/>
            <a:ext cx="21299170" cy="876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50000"/>
              </a:lnSpc>
              <a:spcBef>
                <a:spcPts val="0"/>
              </a:spcBef>
              <a:defRPr b="1" sz="4900">
                <a:solidFill>
                  <a:srgbClr val="0D0D0D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交通流量大盘功能总览</a:t>
            </a:r>
          </a:p>
        </p:txBody>
      </p:sp>
      <p:pic>
        <p:nvPicPr>
          <p:cNvPr id="194" name="Image 0" descr="Image 0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tretch>
            <a:fillRect/>
          </a:stretch>
        </p:blipFill>
        <p:spPr>
          <a:xfrm flipH="1" rot="10800000">
            <a:off x="1765300" y="1338580"/>
            <a:ext cx="1524000" cy="152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95" name="Image 1" descr="Image 1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tretch>
            <a:fillRect/>
          </a:stretch>
        </p:blipFill>
        <p:spPr>
          <a:xfrm flipH="1" rot="10800000">
            <a:off x="1765300" y="1600200"/>
            <a:ext cx="1524000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文本框 15"/>
          <p:cNvSpPr txBox="1"/>
          <p:nvPr>
            <p:ph type="sldNum" sz="quarter" idx="4294967295"/>
          </p:nvPr>
        </p:nvSpPr>
        <p:spPr>
          <a:xfrm>
            <a:off x="23164832" y="12861656"/>
            <a:ext cx="449848" cy="7289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 anchor="t"/>
          <a:lstStyle>
            <a:lvl1pPr algn="l" defTabSz="1828800">
              <a:defRPr sz="36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97" name="Rounded Rectangle 3"/>
          <p:cNvSpPr/>
          <p:nvPr/>
        </p:nvSpPr>
        <p:spPr>
          <a:xfrm>
            <a:off x="1219168" y="3712929"/>
            <a:ext cx="10782032" cy="1885954"/>
          </a:xfrm>
          <a:prstGeom prst="roundRect">
            <a:avLst>
              <a:gd name="adj" fmla="val 24242"/>
            </a:avLst>
          </a:prstGeom>
          <a:solidFill>
            <a:srgbClr val="D3E3FC"/>
          </a:solidFill>
          <a:ln w="12700">
            <a:solidFill>
              <a:srgbClr val="3B82F6"/>
            </a:solidFill>
            <a:miter/>
          </a:ln>
        </p:spPr>
        <p:txBody>
          <a:bodyPr lIns="50800" tIns="50800" rIns="50800" bIns="50800" anchor="ctr"/>
          <a:lstStyle/>
          <a:p>
            <a:pPr algn="ctr" defTabSz="18288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grpSp>
        <p:nvGrpSpPr>
          <p:cNvPr id="200" name="Picture 4"/>
          <p:cNvGrpSpPr/>
          <p:nvPr/>
        </p:nvGrpSpPr>
        <p:grpSpPr>
          <a:xfrm>
            <a:off x="1543007" y="4132856"/>
            <a:ext cx="533394" cy="417449"/>
            <a:chOff x="-1" y="0"/>
            <a:chExt cx="533393" cy="417447"/>
          </a:xfrm>
        </p:grpSpPr>
        <p:sp>
          <p:nvSpPr>
            <p:cNvPr id="198" name="矩形"/>
            <p:cNvSpPr/>
            <p:nvPr/>
          </p:nvSpPr>
          <p:spPr>
            <a:xfrm>
              <a:off x="-2" y="-1"/>
              <a:ext cx="533395" cy="417447"/>
            </a:xfrm>
            <a:prstGeom prst="rect">
              <a:avLst/>
            </a:prstGeom>
            <a:solidFill>
              <a:srgbClr val="D3E3FC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1828800">
                <a:lnSpc>
                  <a:spcPct val="100000"/>
                </a:lnSpc>
                <a:spcBef>
                  <a:spcPts val="0"/>
                </a:spcBef>
                <a:defRPr sz="3600"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pic>
          <p:nvPicPr>
            <p:cNvPr id="199" name="image14.png" descr="image14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-2" y="-1"/>
              <a:ext cx="533395" cy="41744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01" name="TextBox 5"/>
          <p:cNvSpPr txBox="1"/>
          <p:nvPr/>
        </p:nvSpPr>
        <p:spPr>
          <a:xfrm>
            <a:off x="2367727" y="3700102"/>
            <a:ext cx="2712552" cy="12616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defTabSz="1828800">
              <a:lnSpc>
                <a:spcPts val="4200"/>
              </a:lnSpc>
              <a:spcBef>
                <a:spcPts val="0"/>
              </a:spcBef>
              <a:defRPr b="1" sz="19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一屏态势总览</a:t>
            </a:r>
          </a:p>
          <a:p>
            <a:pPr defTabSz="1828800">
              <a:lnSpc>
                <a:spcPts val="4200"/>
              </a:lnSpc>
              <a:spcBef>
                <a:spcPts val="0"/>
              </a:spcBef>
              <a:defRPr sz="19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核心指标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+ </a:t>
            </a:r>
            <a:r>
              <a:t>趋势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+ </a:t>
            </a:r>
            <a:r>
              <a:t>地图</a:t>
            </a:r>
          </a:p>
        </p:txBody>
      </p:sp>
      <p:sp>
        <p:nvSpPr>
          <p:cNvPr id="202" name="TextBox 7"/>
          <p:cNvSpPr txBox="1"/>
          <p:nvPr/>
        </p:nvSpPr>
        <p:spPr>
          <a:xfrm>
            <a:off x="5557120" y="3739203"/>
            <a:ext cx="1540257" cy="1749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核心指标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活跃车辆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采样轨迹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总里程</a:t>
            </a:r>
          </a:p>
        </p:txBody>
      </p:sp>
      <p:sp>
        <p:nvSpPr>
          <p:cNvPr id="203" name="TextBox 11"/>
          <p:cNvSpPr txBox="1"/>
          <p:nvPr/>
        </p:nvSpPr>
        <p:spPr>
          <a:xfrm>
            <a:off x="8602350" y="3731063"/>
            <a:ext cx="1540257" cy="1749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小时趋势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平均速度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拥堵度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24</a:t>
            </a:r>
            <a:r>
              <a:rPr>
                <a:latin typeface="微软雅黑"/>
                <a:ea typeface="微软雅黑"/>
                <a:cs typeface="微软雅黑"/>
                <a:sym typeface="微软雅黑"/>
              </a:rPr>
              <a:t>小时</a:t>
            </a:r>
          </a:p>
        </p:txBody>
      </p:sp>
      <p:sp>
        <p:nvSpPr>
          <p:cNvPr id="204" name="Rounded Rectangle 12"/>
          <p:cNvSpPr/>
          <p:nvPr/>
        </p:nvSpPr>
        <p:spPr>
          <a:xfrm>
            <a:off x="1181683" y="5990242"/>
            <a:ext cx="10819515" cy="1885954"/>
          </a:xfrm>
          <a:prstGeom prst="roundRect">
            <a:avLst>
              <a:gd name="adj" fmla="val 24242"/>
            </a:avLst>
          </a:prstGeom>
          <a:solidFill>
            <a:srgbClr val="D3E3FC"/>
          </a:solidFill>
          <a:ln w="12700">
            <a:solidFill>
              <a:srgbClr val="3B82F6"/>
            </a:solidFill>
            <a:miter/>
          </a:ln>
        </p:spPr>
        <p:txBody>
          <a:bodyPr lIns="50800" tIns="50800" rIns="50800" bIns="50800" anchor="ctr"/>
          <a:lstStyle/>
          <a:p>
            <a:pPr algn="ctr" defTabSz="18288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grpSp>
        <p:nvGrpSpPr>
          <p:cNvPr id="207" name="Picture 13"/>
          <p:cNvGrpSpPr/>
          <p:nvPr/>
        </p:nvGrpSpPr>
        <p:grpSpPr>
          <a:xfrm>
            <a:off x="1543007" y="6429217"/>
            <a:ext cx="533394" cy="417450"/>
            <a:chOff x="-1" y="0"/>
            <a:chExt cx="533393" cy="417448"/>
          </a:xfrm>
        </p:grpSpPr>
        <p:sp>
          <p:nvSpPr>
            <p:cNvPr id="205" name="矩形"/>
            <p:cNvSpPr/>
            <p:nvPr/>
          </p:nvSpPr>
          <p:spPr>
            <a:xfrm>
              <a:off x="-2" y="-1"/>
              <a:ext cx="533395" cy="417448"/>
            </a:xfrm>
            <a:prstGeom prst="rect">
              <a:avLst/>
            </a:prstGeom>
            <a:solidFill>
              <a:srgbClr val="D3E3FC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1828800">
                <a:lnSpc>
                  <a:spcPct val="100000"/>
                </a:lnSpc>
                <a:spcBef>
                  <a:spcPts val="0"/>
                </a:spcBef>
                <a:defRPr sz="3600"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pic>
          <p:nvPicPr>
            <p:cNvPr id="206" name="image41.png" descr="image41.png"/>
            <p:cNvPicPr>
              <a:picLocks noChangeAspect="1"/>
            </p:cNvPicPr>
            <p:nvPr/>
          </p:nvPicPr>
          <p:blipFill>
            <a:blip r:embed="rId5">
              <a:extLst/>
            </a:blip>
            <a:stretch>
              <a:fillRect/>
            </a:stretch>
          </p:blipFill>
          <p:spPr>
            <a:xfrm>
              <a:off x="-2" y="-1"/>
              <a:ext cx="533395" cy="41744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08" name="TextBox 14"/>
          <p:cNvSpPr txBox="1"/>
          <p:nvPr/>
        </p:nvSpPr>
        <p:spPr>
          <a:xfrm>
            <a:off x="2299279" y="5846194"/>
            <a:ext cx="1679957" cy="7282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defTabSz="1828800">
              <a:lnSpc>
                <a:spcPts val="4200"/>
              </a:lnSpc>
              <a:spcBef>
                <a:spcPts val="0"/>
              </a:spcBef>
              <a:defRPr b="1" sz="19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区域车流地图</a:t>
            </a:r>
          </a:p>
        </p:txBody>
      </p:sp>
      <p:sp>
        <p:nvSpPr>
          <p:cNvPr id="209" name="TextBox 16"/>
          <p:cNvSpPr txBox="1"/>
          <p:nvPr/>
        </p:nvSpPr>
        <p:spPr>
          <a:xfrm>
            <a:off x="2369131" y="6441913"/>
            <a:ext cx="1781557" cy="1368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热点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Top5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通过次数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唯一车辆数</a:t>
            </a:r>
          </a:p>
        </p:txBody>
      </p:sp>
      <p:sp>
        <p:nvSpPr>
          <p:cNvPr id="210" name="TextBox 18"/>
          <p:cNvSpPr txBox="1"/>
          <p:nvPr/>
        </p:nvSpPr>
        <p:spPr>
          <a:xfrm>
            <a:off x="5548624" y="6441913"/>
            <a:ext cx="1701202" cy="1368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拥堵路段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高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中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低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平均速度</a:t>
            </a:r>
          </a:p>
        </p:txBody>
      </p:sp>
      <p:sp>
        <p:nvSpPr>
          <p:cNvPr id="211" name="TextBox 20"/>
          <p:cNvSpPr txBox="1"/>
          <p:nvPr/>
        </p:nvSpPr>
        <p:spPr>
          <a:xfrm>
            <a:off x="8602350" y="6441913"/>
            <a:ext cx="1540257" cy="1368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道路等级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路段数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总通过量</a:t>
            </a:r>
          </a:p>
        </p:txBody>
      </p:sp>
      <p:sp>
        <p:nvSpPr>
          <p:cNvPr id="212" name="Rounded Rectangle 21"/>
          <p:cNvSpPr/>
          <p:nvPr/>
        </p:nvSpPr>
        <p:spPr>
          <a:xfrm>
            <a:off x="1181683" y="8460378"/>
            <a:ext cx="10782032" cy="1885954"/>
          </a:xfrm>
          <a:prstGeom prst="roundRect">
            <a:avLst>
              <a:gd name="adj" fmla="val 24242"/>
            </a:avLst>
          </a:prstGeom>
          <a:solidFill>
            <a:srgbClr val="D3E3FC"/>
          </a:solidFill>
          <a:ln w="12700">
            <a:solidFill>
              <a:srgbClr val="3B82F6"/>
            </a:solidFill>
            <a:miter/>
          </a:ln>
        </p:spPr>
        <p:txBody>
          <a:bodyPr lIns="50800" tIns="50800" rIns="50800" bIns="50800" anchor="ctr"/>
          <a:lstStyle/>
          <a:p>
            <a:pPr algn="ctr" defTabSz="18288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grpSp>
        <p:nvGrpSpPr>
          <p:cNvPr id="215" name="Picture 22"/>
          <p:cNvGrpSpPr/>
          <p:nvPr/>
        </p:nvGrpSpPr>
        <p:grpSpPr>
          <a:xfrm>
            <a:off x="1505523" y="8839718"/>
            <a:ext cx="533394" cy="498621"/>
            <a:chOff x="-1" y="-1"/>
            <a:chExt cx="533393" cy="498620"/>
          </a:xfrm>
        </p:grpSpPr>
        <p:sp>
          <p:nvSpPr>
            <p:cNvPr id="213" name="矩形"/>
            <p:cNvSpPr/>
            <p:nvPr/>
          </p:nvSpPr>
          <p:spPr>
            <a:xfrm>
              <a:off x="-2" y="-2"/>
              <a:ext cx="533395" cy="498621"/>
            </a:xfrm>
            <a:prstGeom prst="rect">
              <a:avLst/>
            </a:prstGeom>
            <a:solidFill>
              <a:srgbClr val="D3E3FC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1828800">
                <a:lnSpc>
                  <a:spcPct val="100000"/>
                </a:lnSpc>
                <a:spcBef>
                  <a:spcPts val="0"/>
                </a:spcBef>
                <a:defRPr sz="3600"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pic>
          <p:nvPicPr>
            <p:cNvPr id="214" name="image59.png" descr="image59.png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2" y="-2"/>
              <a:ext cx="533395" cy="4986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6" name="TextBox 25"/>
          <p:cNvSpPr txBox="1"/>
          <p:nvPr/>
        </p:nvSpPr>
        <p:spPr>
          <a:xfrm>
            <a:off x="2449174" y="8960843"/>
            <a:ext cx="2036289" cy="13682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LINESTRING</a:t>
            </a:r>
            <a:endParaRPr>
              <a:latin typeface="微软雅黑"/>
              <a:ea typeface="微软雅黑"/>
              <a:cs typeface="微软雅黑"/>
              <a:sym typeface="微软雅黑"/>
            </a:endParaRP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里程计算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起止时间</a:t>
            </a:r>
          </a:p>
        </p:txBody>
      </p:sp>
      <p:sp>
        <p:nvSpPr>
          <p:cNvPr id="217" name="TextBox 27"/>
          <p:cNvSpPr txBox="1"/>
          <p:nvPr/>
        </p:nvSpPr>
        <p:spPr>
          <a:xfrm>
            <a:off x="5327961" y="9271718"/>
            <a:ext cx="2425103" cy="987299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速度等级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缓行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平稳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畅通</a:t>
            </a:r>
          </a:p>
        </p:txBody>
      </p:sp>
      <p:sp>
        <p:nvSpPr>
          <p:cNvPr id="218" name="TextBox 29"/>
          <p:cNvSpPr txBox="1"/>
          <p:nvPr/>
        </p:nvSpPr>
        <p:spPr>
          <a:xfrm>
            <a:off x="8602350" y="9316133"/>
            <a:ext cx="1781557" cy="987299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marL="342899" indent="-342899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单车明细</a:t>
            </a:r>
          </a:p>
          <a:p>
            <a:pPr marL="342900" indent="-342900" defTabSz="1828800">
              <a:lnSpc>
                <a:spcPts val="3000"/>
              </a:lnSpc>
              <a:spcBef>
                <a:spcPts val="0"/>
              </a:spcBef>
              <a:buSzPct val="100000"/>
              <a:buFont typeface="Arial"/>
              <a:buChar char="•"/>
              <a:defRPr sz="1900"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可点击查看</a:t>
            </a:r>
          </a:p>
        </p:txBody>
      </p:sp>
      <p:sp>
        <p:nvSpPr>
          <p:cNvPr id="219" name="Rounded Rectangle 30"/>
          <p:cNvSpPr/>
          <p:nvPr/>
        </p:nvSpPr>
        <p:spPr>
          <a:xfrm>
            <a:off x="1219168" y="10674356"/>
            <a:ext cx="5276718" cy="2305053"/>
          </a:xfrm>
          <a:prstGeom prst="roundRect">
            <a:avLst>
              <a:gd name="adj" fmla="val 19834"/>
            </a:avLst>
          </a:prstGeom>
          <a:solidFill>
            <a:srgbClr val="D3E3FC"/>
          </a:solidFill>
          <a:ln w="12700">
            <a:solidFill>
              <a:srgbClr val="3B82F6"/>
            </a:solidFill>
            <a:miter/>
          </a:ln>
        </p:spPr>
        <p:txBody>
          <a:bodyPr lIns="50800" tIns="50800" rIns="50800" bIns="50800" anchor="ctr"/>
          <a:lstStyle/>
          <a:p>
            <a:pPr algn="ctr" defTabSz="18288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grpSp>
        <p:nvGrpSpPr>
          <p:cNvPr id="222" name="Picture 31"/>
          <p:cNvGrpSpPr/>
          <p:nvPr/>
        </p:nvGrpSpPr>
        <p:grpSpPr>
          <a:xfrm>
            <a:off x="1543005" y="11088137"/>
            <a:ext cx="495296" cy="391641"/>
            <a:chOff x="-1" y="-1"/>
            <a:chExt cx="495295" cy="391639"/>
          </a:xfrm>
        </p:grpSpPr>
        <p:sp>
          <p:nvSpPr>
            <p:cNvPr id="220" name="矩形"/>
            <p:cNvSpPr/>
            <p:nvPr/>
          </p:nvSpPr>
          <p:spPr>
            <a:xfrm>
              <a:off x="-2" y="-2"/>
              <a:ext cx="495295" cy="391641"/>
            </a:xfrm>
            <a:prstGeom prst="rect">
              <a:avLst/>
            </a:prstGeom>
            <a:solidFill>
              <a:srgbClr val="D3E3FC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1828800">
                <a:lnSpc>
                  <a:spcPct val="100000"/>
                </a:lnSpc>
                <a:spcBef>
                  <a:spcPts val="0"/>
                </a:spcBef>
                <a:defRPr sz="3600"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pic>
          <p:nvPicPr>
            <p:cNvPr id="221" name="image60.png" descr="image60.png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1"/>
              <a:ext cx="495296" cy="3916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23" name="TextBox 32"/>
          <p:cNvSpPr txBox="1"/>
          <p:nvPr/>
        </p:nvSpPr>
        <p:spPr>
          <a:xfrm>
            <a:off x="2260306" y="10856211"/>
            <a:ext cx="1197357" cy="687579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defTabSz="1828800">
              <a:lnSpc>
                <a:spcPts val="3800"/>
              </a:lnSpc>
              <a:spcBef>
                <a:spcPts val="0"/>
              </a:spcBef>
              <a:defRPr b="1" sz="1900">
                <a:solidFill>
                  <a:srgbClr val="0439E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占比</a:t>
            </a:r>
            <a:r>
              <a:rPr>
                <a:latin typeface="微软雅黑"/>
                <a:ea typeface="微软雅黑"/>
                <a:cs typeface="微软雅黑"/>
                <a:sym typeface="微软雅黑"/>
              </a:rPr>
              <a:t>分析</a:t>
            </a:r>
          </a:p>
        </p:txBody>
      </p:sp>
      <p:sp>
        <p:nvSpPr>
          <p:cNvPr id="224" name="TextBox 34"/>
          <p:cNvSpPr txBox="1"/>
          <p:nvPr/>
        </p:nvSpPr>
        <p:spPr>
          <a:xfrm>
            <a:off x="2262490" y="11479772"/>
            <a:ext cx="1794257" cy="573026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marL="342900" indent="-342900" defTabSz="1828800">
              <a:lnSpc>
                <a:spcPts val="2800"/>
              </a:lnSpc>
              <a:spcBef>
                <a:spcPts val="0"/>
              </a:spcBef>
              <a:buSzPct val="100000"/>
              <a:buFont typeface="Arial"/>
              <a:buChar char="•"/>
              <a:defRPr b="1" sz="1600"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速度状态占比</a:t>
            </a:r>
          </a:p>
        </p:txBody>
      </p:sp>
      <p:sp>
        <p:nvSpPr>
          <p:cNvPr id="225" name="TextBox 36"/>
          <p:cNvSpPr txBox="1"/>
          <p:nvPr/>
        </p:nvSpPr>
        <p:spPr>
          <a:xfrm>
            <a:off x="2282373" y="11953566"/>
            <a:ext cx="2022857" cy="585979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marL="342899" indent="-342899" defTabSz="1828800">
              <a:lnSpc>
                <a:spcPts val="28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拥堵等级占比</a:t>
            </a:r>
          </a:p>
        </p:txBody>
      </p:sp>
      <p:sp>
        <p:nvSpPr>
          <p:cNvPr id="226" name="Rounded Rectangle 37"/>
          <p:cNvSpPr/>
          <p:nvPr/>
        </p:nvSpPr>
        <p:spPr>
          <a:xfrm>
            <a:off x="6724480" y="10674356"/>
            <a:ext cx="5276722" cy="2305053"/>
          </a:xfrm>
          <a:prstGeom prst="roundRect">
            <a:avLst>
              <a:gd name="adj" fmla="val 19834"/>
            </a:avLst>
          </a:prstGeom>
          <a:solidFill>
            <a:srgbClr val="D3E3FC"/>
          </a:solidFill>
          <a:ln w="12700">
            <a:solidFill>
              <a:srgbClr val="3B82F6"/>
            </a:solidFill>
            <a:miter/>
          </a:ln>
        </p:spPr>
        <p:txBody>
          <a:bodyPr lIns="50800" tIns="50800" rIns="50800" bIns="50800" anchor="ctr"/>
          <a:lstStyle/>
          <a:p>
            <a:pPr algn="ctr" defTabSz="1828800">
              <a:lnSpc>
                <a:spcPct val="100000"/>
              </a:lnSpc>
              <a:spcBef>
                <a:spcPts val="0"/>
              </a:spcBef>
              <a:defRPr sz="36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grpSp>
        <p:nvGrpSpPr>
          <p:cNvPr id="229" name="Picture 38"/>
          <p:cNvGrpSpPr/>
          <p:nvPr/>
        </p:nvGrpSpPr>
        <p:grpSpPr>
          <a:xfrm>
            <a:off x="7048317" y="11108295"/>
            <a:ext cx="495295" cy="351325"/>
            <a:chOff x="-1" y="0"/>
            <a:chExt cx="495294" cy="351323"/>
          </a:xfrm>
        </p:grpSpPr>
        <p:sp>
          <p:nvSpPr>
            <p:cNvPr id="227" name="矩形"/>
            <p:cNvSpPr/>
            <p:nvPr/>
          </p:nvSpPr>
          <p:spPr>
            <a:xfrm>
              <a:off x="-2" y="-1"/>
              <a:ext cx="495295" cy="351324"/>
            </a:xfrm>
            <a:prstGeom prst="rect">
              <a:avLst/>
            </a:prstGeom>
            <a:solidFill>
              <a:srgbClr val="D3E3FC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t">
              <a:noAutofit/>
            </a:bodyPr>
            <a:lstStyle/>
            <a:p>
              <a:pPr defTabSz="1828800">
                <a:lnSpc>
                  <a:spcPct val="100000"/>
                </a:lnSpc>
                <a:spcBef>
                  <a:spcPts val="0"/>
                </a:spcBef>
                <a:defRPr sz="3600">
                  <a:latin typeface="Calibri"/>
                  <a:ea typeface="Calibri"/>
                  <a:cs typeface="Calibri"/>
                  <a:sym typeface="Calibri"/>
                </a:defRPr>
              </a:pPr>
            </a:p>
          </p:txBody>
        </p:sp>
        <p:pic>
          <p:nvPicPr>
            <p:cNvPr id="228" name="image61.png" descr="image61.png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-1" y="-1"/>
              <a:ext cx="495294" cy="35132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30" name="TextBox 41"/>
          <p:cNvSpPr txBox="1"/>
          <p:nvPr/>
        </p:nvSpPr>
        <p:spPr>
          <a:xfrm>
            <a:off x="7637150" y="11584305"/>
            <a:ext cx="2505457" cy="585980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marL="342899" indent="-342899" defTabSz="1828800">
              <a:lnSpc>
                <a:spcPts val="2800"/>
              </a:lnSpc>
              <a:spcBef>
                <a:spcPts val="0"/>
              </a:spcBef>
              <a:buSzPct val="100000"/>
              <a:buFont typeface="Arial"/>
              <a:buChar char="•"/>
              <a:defRPr b="1" sz="19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服务统计趋势分析</a:t>
            </a:r>
          </a:p>
        </p:txBody>
      </p:sp>
      <p:sp>
        <p:nvSpPr>
          <p:cNvPr id="231" name="TextBox 42"/>
          <p:cNvSpPr/>
          <p:nvPr/>
        </p:nvSpPr>
        <p:spPr>
          <a:xfrm>
            <a:off x="7048320" y="12182698"/>
            <a:ext cx="641718" cy="545668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1828800">
              <a:lnSpc>
                <a:spcPts val="2800"/>
              </a:lnSpc>
              <a:spcBef>
                <a:spcPts val="0"/>
              </a:spcBef>
              <a:defRPr sz="1600">
                <a:solidFill>
                  <a:srgbClr val="3B82F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</a:p>
        </p:txBody>
      </p:sp>
      <p:sp>
        <p:nvSpPr>
          <p:cNvPr id="232" name="TextBox 43"/>
          <p:cNvSpPr txBox="1"/>
          <p:nvPr/>
        </p:nvSpPr>
        <p:spPr>
          <a:xfrm>
            <a:off x="7700578" y="12109872"/>
            <a:ext cx="1794257" cy="573026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marL="342900" indent="-342900" defTabSz="1828800">
              <a:lnSpc>
                <a:spcPts val="2800"/>
              </a:lnSpc>
              <a:spcBef>
                <a:spcPts val="0"/>
              </a:spcBef>
              <a:buSzPct val="100000"/>
              <a:buFont typeface="Arial"/>
              <a:buChar char="•"/>
              <a:defRPr b="1" sz="16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订单趋势分析</a:t>
            </a:r>
          </a:p>
        </p:txBody>
      </p:sp>
      <p:sp>
        <p:nvSpPr>
          <p:cNvPr id="233" name="TextBox 23"/>
          <p:cNvSpPr txBox="1"/>
          <p:nvPr/>
        </p:nvSpPr>
        <p:spPr>
          <a:xfrm>
            <a:off x="2453823" y="8257870"/>
            <a:ext cx="1679957" cy="7282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>
            <a:lvl1pPr defTabSz="1828800">
              <a:lnSpc>
                <a:spcPts val="4200"/>
              </a:lnSpc>
              <a:spcBef>
                <a:spcPts val="0"/>
              </a:spcBef>
              <a:defRPr b="1" sz="19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轨迹复盘追溯</a:t>
            </a:r>
          </a:p>
        </p:txBody>
      </p:sp>
      <p:sp>
        <p:nvSpPr>
          <p:cNvPr id="234" name="TextBox 32"/>
          <p:cNvSpPr txBox="1"/>
          <p:nvPr/>
        </p:nvSpPr>
        <p:spPr>
          <a:xfrm>
            <a:off x="7718155" y="10862863"/>
            <a:ext cx="1197357" cy="687579"/>
          </a:xfrm>
          <a:prstGeom prst="rect">
            <a:avLst/>
          </a:prstGeom>
          <a:solidFill>
            <a:srgbClr val="D3E3FC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09728" tIns="109728" rIns="109728" bIns="109728" anchor="ctr">
            <a:spAutoFit/>
          </a:bodyPr>
          <a:lstStyle/>
          <a:p>
            <a:pPr defTabSz="1828800">
              <a:lnSpc>
                <a:spcPts val="3800"/>
              </a:lnSpc>
              <a:spcBef>
                <a:spcPts val="0"/>
              </a:spcBef>
              <a:defRPr b="1" sz="1900">
                <a:solidFill>
                  <a:srgbClr val="0439E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趋势</a:t>
            </a:r>
            <a:r>
              <a:rPr>
                <a:latin typeface="微软雅黑"/>
                <a:ea typeface="微软雅黑"/>
                <a:cs typeface="微软雅黑"/>
                <a:sym typeface="微软雅黑"/>
              </a:rPr>
              <a:t>分析</a:t>
            </a:r>
          </a:p>
        </p:txBody>
      </p:sp>
      <p:pic>
        <p:nvPicPr>
          <p:cNvPr id="235" name="图像" descr="图像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4594749" y="3045480"/>
            <a:ext cx="7290304" cy="101342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 flipH="1">
            <a:off x="0" y="3514090"/>
            <a:ext cx="24384000" cy="8573770"/>
          </a:xfrm>
          <a:prstGeom prst="rect">
            <a:avLst/>
          </a:prstGeom>
          <a:ln w="12700">
            <a:miter lim="400000"/>
          </a:ln>
        </p:spPr>
      </p:pic>
      <p:pic>
        <p:nvPicPr>
          <p:cNvPr id="238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rot="5400000">
            <a:off x="14063980" y="1770377"/>
            <a:ext cx="8576311" cy="12062464"/>
          </a:xfrm>
          <a:prstGeom prst="rect">
            <a:avLst/>
          </a:prstGeom>
          <a:ln w="12700">
            <a:miter lim="400000"/>
          </a:ln>
        </p:spPr>
      </p:pic>
      <p:sp>
        <p:nvSpPr>
          <p:cNvPr id="239" name="Text 0"/>
          <p:cNvSpPr txBox="1"/>
          <p:nvPr/>
        </p:nvSpPr>
        <p:spPr>
          <a:xfrm>
            <a:off x="1163318" y="1506218"/>
            <a:ext cx="2095881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50000"/>
              </a:lnSpc>
              <a:spcBef>
                <a:spcPts val="0"/>
              </a:spcBef>
              <a:defRPr b="1" sz="4300">
                <a:solidFill>
                  <a:srgbClr val="0D0D0D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数据项与业务意义</a:t>
            </a:r>
          </a:p>
        </p:txBody>
      </p:sp>
      <p:pic>
        <p:nvPicPr>
          <p:cNvPr id="240" name="Image 2" descr="Image 2"/>
          <p:cNvPicPr>
            <a:picLocks noChangeAspect="1"/>
          </p:cNvPicPr>
          <p:nvPr/>
        </p:nvPicPr>
        <p:blipFill>
          <a:blip r:embed="rId5">
            <a:alphaModFix amt="40000"/>
            <a:extLst/>
          </a:blip>
          <a:stretch>
            <a:fillRect/>
          </a:stretch>
        </p:blipFill>
        <p:spPr>
          <a:xfrm flipH="1" rot="10800000">
            <a:off x="21503639" y="1998977"/>
            <a:ext cx="1524004" cy="152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41" name="Image 3" descr="Image 3"/>
          <p:cNvPicPr>
            <a:picLocks noChangeAspect="1"/>
          </p:cNvPicPr>
          <p:nvPr/>
        </p:nvPicPr>
        <p:blipFill>
          <a:blip r:embed="rId5">
            <a:alphaModFix amt="40000"/>
            <a:extLst/>
          </a:blip>
          <a:stretch>
            <a:fillRect/>
          </a:stretch>
        </p:blipFill>
        <p:spPr>
          <a:xfrm flipH="1" rot="10800000">
            <a:off x="21503639" y="2260600"/>
            <a:ext cx="1524004" cy="152400"/>
          </a:xfrm>
          <a:prstGeom prst="rect">
            <a:avLst/>
          </a:prstGeom>
          <a:ln w="12700">
            <a:miter lim="400000"/>
          </a:ln>
        </p:spPr>
      </p:pic>
      <p:sp>
        <p:nvSpPr>
          <p:cNvPr id="242" name="Text 1"/>
          <p:cNvSpPr txBox="1"/>
          <p:nvPr/>
        </p:nvSpPr>
        <p:spPr>
          <a:xfrm>
            <a:off x="1163319" y="3723124"/>
            <a:ext cx="10350501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b="1" sz="24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功能模块</a:t>
            </a:r>
          </a:p>
        </p:txBody>
      </p:sp>
      <p:sp>
        <p:nvSpPr>
          <p:cNvPr id="243" name="Text 2"/>
          <p:cNvSpPr txBox="1"/>
          <p:nvPr/>
        </p:nvSpPr>
        <p:spPr>
          <a:xfrm>
            <a:off x="1162683" y="4585196"/>
            <a:ext cx="10351773" cy="3130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核心指标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endParaRPr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趋势图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endParaRPr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地图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endParaRPr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热点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endParaRPr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拥堵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endParaRPr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1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轨迹复盘</a:t>
            </a:r>
          </a:p>
        </p:txBody>
      </p:sp>
      <p:sp>
        <p:nvSpPr>
          <p:cNvPr id="244" name="Text 3"/>
          <p:cNvSpPr txBox="1"/>
          <p:nvPr/>
        </p:nvSpPr>
        <p:spPr>
          <a:xfrm>
            <a:off x="1163319" y="8281668"/>
            <a:ext cx="10350501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b="1" sz="24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数据项口径</a:t>
            </a:r>
          </a:p>
        </p:txBody>
      </p:sp>
      <p:sp>
        <p:nvSpPr>
          <p:cNvPr id="245" name="Text 4"/>
          <p:cNvSpPr txBox="1"/>
          <p:nvPr/>
        </p:nvSpPr>
        <p:spPr>
          <a:xfrm>
            <a:off x="1163319" y="8992868"/>
            <a:ext cx="10351773" cy="181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200">
                <a:solidFill>
                  <a:srgbClr val="262626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overview / 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200">
                <a:solidFill>
                  <a:srgbClr val="262626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road_traffic / 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200">
                <a:solidFill>
                  <a:srgbClr val="262626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hotspot_analysis / 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200">
                <a:solidFill>
                  <a:srgbClr val="262626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dwd_taxi_trip</a:t>
            </a:r>
          </a:p>
        </p:txBody>
      </p:sp>
      <p:sp>
        <p:nvSpPr>
          <p:cNvPr id="246" name="Text 5"/>
          <p:cNvSpPr txBox="1"/>
          <p:nvPr/>
        </p:nvSpPr>
        <p:spPr>
          <a:xfrm>
            <a:off x="13067030" y="4033262"/>
            <a:ext cx="10350504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b="1" sz="32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计算方式</a:t>
            </a:r>
          </a:p>
        </p:txBody>
      </p:sp>
      <p:sp>
        <p:nvSpPr>
          <p:cNvPr id="247" name="Text 6"/>
          <p:cNvSpPr txBox="1"/>
          <p:nvPr/>
        </p:nvSpPr>
        <p:spPr>
          <a:xfrm>
            <a:off x="13067030" y="4932043"/>
            <a:ext cx="10353044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健康度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=58 + </a:t>
            </a:r>
            <a:r>
              <a:t>平均车速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×1.45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热点强度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=log10(pass_count)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拥堵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=</a:t>
            </a:r>
            <a:r>
              <a:t>高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中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/ </a:t>
            </a:r>
            <a:r>
              <a:t>低</a:t>
            </a:r>
          </a:p>
        </p:txBody>
      </p:sp>
      <p:sp>
        <p:nvSpPr>
          <p:cNvPr id="248" name="Text 7"/>
          <p:cNvSpPr txBox="1"/>
          <p:nvPr/>
        </p:nvSpPr>
        <p:spPr>
          <a:xfrm>
            <a:off x="13068300" y="8088026"/>
            <a:ext cx="10350504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b="1" sz="30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数据新鲜度</a:t>
            </a:r>
          </a:p>
        </p:txBody>
      </p:sp>
      <p:sp>
        <p:nvSpPr>
          <p:cNvPr id="249" name="Text 8"/>
          <p:cNvSpPr txBox="1"/>
          <p:nvPr/>
        </p:nvSpPr>
        <p:spPr>
          <a:xfrm>
            <a:off x="13067030" y="8992868"/>
            <a:ext cx="10353044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just" defTabSz="1828800">
              <a:lnSpc>
                <a:spcPct val="150000"/>
              </a:lnSpc>
              <a:spcBef>
                <a:spcPts val="0"/>
              </a:spcBef>
              <a:defRPr b="1"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接口每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60</a:t>
            </a:r>
            <a:r>
              <a:t>秒刷新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缓存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TTL 300-1800</a:t>
            </a:r>
            <a:r>
              <a:t>秒</a:t>
            </a:r>
          </a:p>
          <a:p>
            <a:pPr algn="just" defTabSz="1828800">
              <a:lnSpc>
                <a:spcPct val="15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t>异常时自动降级</a:t>
            </a:r>
          </a:p>
        </p:txBody>
      </p:sp>
      <p:sp>
        <p:nvSpPr>
          <p:cNvPr id="250" name="文本框 14"/>
          <p:cNvSpPr txBox="1"/>
          <p:nvPr>
            <p:ph type="sldNum" sz="quarter" idx="4294967295"/>
          </p:nvPr>
        </p:nvSpPr>
        <p:spPr>
          <a:xfrm>
            <a:off x="23164832" y="12861656"/>
            <a:ext cx="449848" cy="7289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 anchor="t"/>
          <a:lstStyle>
            <a:lvl1pPr algn="l" defTabSz="1828800">
              <a:defRPr sz="36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fld id="{86CB4B4D-7CA3-9044-876B-883B54F8677D}" type="slidenum"/>
          </a:p>
        </p:txBody>
      </p:sp>
      <p:pic>
        <p:nvPicPr>
          <p:cNvPr id="251" name="图像" descr="图像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678219" y="4174557"/>
            <a:ext cx="7950465" cy="38150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AFC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54" name="Rectangle 2"/>
          <p:cNvSpPr/>
          <p:nvPr/>
        </p:nvSpPr>
        <p:spPr>
          <a:xfrm>
            <a:off x="0" y="-1"/>
            <a:ext cx="24384000" cy="1325882"/>
          </a:xfrm>
          <a:prstGeom prst="rect">
            <a:avLst/>
          </a:prstGeom>
          <a:solidFill>
            <a:srgbClr val="16314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55" name="Rectangle 3"/>
          <p:cNvSpPr/>
          <p:nvPr/>
        </p:nvSpPr>
        <p:spPr>
          <a:xfrm>
            <a:off x="0" y="1325880"/>
            <a:ext cx="24384000" cy="73154"/>
          </a:xfrm>
          <a:prstGeom prst="rect">
            <a:avLst/>
          </a:prstGeom>
          <a:solidFill>
            <a:srgbClr val="0F96AA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56" name="TextBox 4"/>
          <p:cNvSpPr txBox="1"/>
          <p:nvPr/>
        </p:nvSpPr>
        <p:spPr>
          <a:xfrm>
            <a:off x="914399" y="256030"/>
            <a:ext cx="452151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计算口径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1</a:t>
            </a:r>
            <a:r>
              <a:t>：核心总览指标</a:t>
            </a:r>
          </a:p>
        </p:txBody>
      </p:sp>
      <p:sp>
        <p:nvSpPr>
          <p:cNvPr id="257" name="TextBox 5"/>
          <p:cNvSpPr txBox="1"/>
          <p:nvPr/>
        </p:nvSpPr>
        <p:spPr>
          <a:xfrm>
            <a:off x="22149550" y="347473"/>
            <a:ext cx="1030489" cy="320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r">
              <a:defRPr sz="1300">
                <a:solidFill>
                  <a:srgbClr val="C6E7EE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DWS </a:t>
            </a:r>
            <a:r>
              <a:rPr>
                <a:latin typeface="+mn-lt"/>
                <a:ea typeface="+mn-ea"/>
                <a:cs typeface="+mn-cs"/>
                <a:sym typeface="Helvetica Neue"/>
              </a:rPr>
              <a:t>总览表</a:t>
            </a:r>
          </a:p>
        </p:txBody>
      </p:sp>
      <p:graphicFrame>
        <p:nvGraphicFramePr>
          <p:cNvPr id="258" name="Table 6"/>
          <p:cNvGraphicFramePr/>
          <p:nvPr/>
        </p:nvGraphicFramePr>
        <p:xfrm>
          <a:off x="822960" y="1874517"/>
          <a:ext cx="22722840" cy="106984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977639"/>
                <a:gridCol w="6812280"/>
                <a:gridCol w="11932920"/>
              </a:tblGrid>
              <a:tr h="133731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000000"/>
                          </a:solidFill>
                        </a:defRPr>
                      </a:pPr>
                      <a:r>
                        <a:rPr b="1" sz="2200">
                          <a:solidFill>
                            <a:srgbClr val="16314E"/>
                          </a:solidFill>
                        </a:rPr>
                        <a:t>数据项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来源字段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数据表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计算方式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口径说明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活跃车辆数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dws_taxi_overview.active_taxis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最新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直接读取最新统计日期的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active_taxis</a:t>
                      </a:r>
                      <a:r>
                        <a:t>；空值或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 </a:t>
                      </a:r>
                      <a:r>
                        <a:t>时使用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fallback </a:t>
                      </a:r>
                      <a:r>
                        <a:t>数据。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t>总采样轨迹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dws_taxi_overview.total_trips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最新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直接读取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total_trips</a:t>
                      </a:r>
                      <a:r>
                        <a:t>，表示当前总览口径下的轨迹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</a:t>
                      </a:r>
                      <a:r>
                        <a:t>行程采样数量。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估算总里程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dws_taxi_overview.total_distance_km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最新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total_distance_km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四舍五入保留 </a:t>
                      </a:r>
                      <a:r>
                        <a:t>2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位小数，单位 </a:t>
                      </a:r>
                      <a:r>
                        <a:t>km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平均车速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dws_taxi_overview.avg_speed_kmh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最新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avg_speed_kmh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四舍五入保留 </a:t>
                      </a:r>
                      <a:r>
                        <a:t>2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位小数，单位 </a:t>
                      </a:r>
                      <a:r>
                        <a:t>km/h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路网健康度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</a:rPr>
                        <a:t>由平均车速派生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healthScore = clamp(round(58 + avgSpeedKmh × 1.45), 45, 96)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用于把速度转成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0-100 </a:t>
                      </a:r>
                      <a:r>
                        <a:t>风格的展示评分。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高峰小时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dws_taxi_overview.peak_hour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最新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直接读取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peak_hour</a:t>
                      </a:r>
                      <a:r>
                        <a:t>，表示总览表已聚合出的峰值小时。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更新时间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API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响应时间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updatedAt = new Date().toISOString()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注意：这是接口生成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</a:t>
                      </a:r>
                      <a:r>
                        <a:t>缓存刷新时间，不是底层业务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stat_date</a:t>
                      </a:r>
                      <a: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AFC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61" name="Rectangle 2"/>
          <p:cNvSpPr/>
          <p:nvPr/>
        </p:nvSpPr>
        <p:spPr>
          <a:xfrm>
            <a:off x="0" y="-1"/>
            <a:ext cx="24384000" cy="1325882"/>
          </a:xfrm>
          <a:prstGeom prst="rect">
            <a:avLst/>
          </a:prstGeom>
          <a:solidFill>
            <a:srgbClr val="16314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62" name="Rectangle 3"/>
          <p:cNvSpPr/>
          <p:nvPr/>
        </p:nvSpPr>
        <p:spPr>
          <a:xfrm>
            <a:off x="0" y="1325880"/>
            <a:ext cx="24384000" cy="73154"/>
          </a:xfrm>
          <a:prstGeom prst="rect">
            <a:avLst/>
          </a:prstGeom>
          <a:solidFill>
            <a:srgbClr val="0F96AA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63" name="TextBox 4"/>
          <p:cNvSpPr txBox="1"/>
          <p:nvPr/>
        </p:nvSpPr>
        <p:spPr>
          <a:xfrm>
            <a:off x="914399" y="256030"/>
            <a:ext cx="528351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计算口径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2</a:t>
            </a:r>
            <a:r>
              <a:t>：趋势、热点与拥堵</a:t>
            </a:r>
          </a:p>
        </p:txBody>
      </p:sp>
      <p:sp>
        <p:nvSpPr>
          <p:cNvPr id="264" name="TextBox 5"/>
          <p:cNvSpPr txBox="1"/>
          <p:nvPr/>
        </p:nvSpPr>
        <p:spPr>
          <a:xfrm>
            <a:off x="22149550" y="347473"/>
            <a:ext cx="1030489" cy="320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r">
              <a:defRPr sz="1300">
                <a:solidFill>
                  <a:srgbClr val="C6E7EE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DWS </a:t>
            </a:r>
            <a:r>
              <a:rPr>
                <a:latin typeface="+mn-lt"/>
                <a:ea typeface="+mn-ea"/>
                <a:cs typeface="+mn-cs"/>
                <a:sym typeface="Helvetica Neue"/>
              </a:rPr>
              <a:t>分析表</a:t>
            </a:r>
          </a:p>
        </p:txBody>
      </p:sp>
      <p:graphicFrame>
        <p:nvGraphicFramePr>
          <p:cNvPr id="265" name="Table 6"/>
          <p:cNvGraphicFramePr/>
          <p:nvPr/>
        </p:nvGraphicFramePr>
        <p:xfrm>
          <a:off x="822960" y="1874517"/>
          <a:ext cx="22722840" cy="106984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977639"/>
                <a:gridCol w="6812280"/>
                <a:gridCol w="11932920"/>
              </a:tblGrid>
              <a:tr h="1528354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000000"/>
                          </a:solidFill>
                        </a:defRPr>
                      </a:pPr>
                      <a:r>
                        <a:rPr b="1" sz="2200">
                          <a:solidFill>
                            <a:srgbClr val="16314E"/>
                          </a:solidFill>
                        </a:rPr>
                        <a:t>数据项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来源字段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数据表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计算方式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口径说明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</a:tr>
              <a:tr h="1528354">
                <a:tc>
                  <a:txBody>
                    <a:bodyPr/>
                    <a:lstStyle/>
                    <a:p>
                      <a:pPr/>
                      <a:r>
                        <a:t>趋势图（覆盖路段）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t>dws_road_traffic
最近24个小时点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t>按 stat_date DESC、stat_hour DESC 取最近 24 条，再按时间正序展示。
hour 单日显示 HH:00，跨日期显示 MM/DD HH:00。
覆盖路段数 = total_roads；avgSpeed = avg_speed_kmh。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528354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趋势拥堵度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dws_road_traffic.avg_congestion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congested_roads / total_roads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优先使用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avg_congestion</a:t>
                      </a:r>
                      <a:r>
                        <a:t>，并限制最大为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若缺失，则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congestion = congested_roads / total_roads</a:t>
                      </a:r>
                      <a:r>
                        <a:t>；仍缺失默认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0.38</a:t>
                      </a:r>
                      <a: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528354">
                <a:tc>
                  <a:txBody>
                    <a:bodyPr/>
                    <a:lstStyle/>
                    <a:p>
                      <a:pPr>
                        <a:defRPr b="1" sz="2200">
                          <a:solidFill>
                            <a:srgbClr val="1F2937"/>
                          </a:solidFill>
                        </a:defRPr>
                      </a:pPr>
                      <a:r>
                        <a:t>热点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TopN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dws_hotspot_analysis h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LEFT JOIN dim_road_segment d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MAX(stat_date)</a:t>
                      </a:r>
                      <a:r>
                        <a:t>，按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pass_count DESC </a:t>
                      </a:r>
                      <a:r>
                        <a:t>排序。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坐标取道路起点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</a:t>
                      </a:r>
                      <a:r>
                        <a:t>终点中点；无有效哈尔滨坐标则过滤。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528354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热点强度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dws_hotspot_analysis.pass_count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intensity = max(1, round(log10(pass_count)))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passCount = pass_count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uniqueTaxis = unique_taxis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type = road_class_name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528354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拥堵路段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dws_hotspot_analysis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MAX(stat_date)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按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COALESCE(congestion_level,0) DESC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pass_count DESC </a:t>
                      </a:r>
                      <a:r>
                        <a:t>排序。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count = pass_count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avgSpeedKmh = avg_speed_kmh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5283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拥堵等级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congestion_level + avg_speed_kmh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高：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congestion_level ≥ 0.65 </a:t>
                      </a:r>
                      <a:r>
                        <a:t>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avg_speed_kmh &lt; 24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中：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congestion_level ≥ 0.35 </a:t>
                      </a:r>
                      <a:r>
                        <a:t>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avg_speed_kmh &lt; 38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其余为低。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AFC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68" name="Rectangle 2"/>
          <p:cNvSpPr/>
          <p:nvPr/>
        </p:nvSpPr>
        <p:spPr>
          <a:xfrm>
            <a:off x="0" y="-1"/>
            <a:ext cx="24384000" cy="1325882"/>
          </a:xfrm>
          <a:prstGeom prst="rect">
            <a:avLst/>
          </a:prstGeom>
          <a:solidFill>
            <a:srgbClr val="16314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69" name="Rectangle 3"/>
          <p:cNvSpPr/>
          <p:nvPr/>
        </p:nvSpPr>
        <p:spPr>
          <a:xfrm>
            <a:off x="0" y="1325880"/>
            <a:ext cx="24384000" cy="73154"/>
          </a:xfrm>
          <a:prstGeom prst="rect">
            <a:avLst/>
          </a:prstGeom>
          <a:solidFill>
            <a:srgbClr val="0F96AA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70" name="TextBox 4"/>
          <p:cNvSpPr txBox="1"/>
          <p:nvPr/>
        </p:nvSpPr>
        <p:spPr>
          <a:xfrm>
            <a:off x="914399" y="256030"/>
            <a:ext cx="566451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计算口径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3</a:t>
            </a:r>
            <a:r>
              <a:t>：道路等级与轨迹复盘</a:t>
            </a:r>
          </a:p>
        </p:txBody>
      </p:sp>
      <p:sp>
        <p:nvSpPr>
          <p:cNvPr id="271" name="TextBox 5"/>
          <p:cNvSpPr txBox="1"/>
          <p:nvPr/>
        </p:nvSpPr>
        <p:spPr>
          <a:xfrm>
            <a:off x="21897116" y="347473"/>
            <a:ext cx="1282922" cy="320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r">
              <a:defRPr sz="1300">
                <a:solidFill>
                  <a:srgbClr val="C6E7EE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道路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+ </a:t>
            </a:r>
            <a:r>
              <a:t>明细轨迹</a:t>
            </a:r>
          </a:p>
        </p:txBody>
      </p:sp>
      <p:graphicFrame>
        <p:nvGraphicFramePr>
          <p:cNvPr id="272" name="Table 6"/>
          <p:cNvGraphicFramePr/>
          <p:nvPr/>
        </p:nvGraphicFramePr>
        <p:xfrm>
          <a:off x="822960" y="1874517"/>
          <a:ext cx="22722840" cy="106984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977639"/>
                <a:gridCol w="6812280"/>
                <a:gridCol w="11932920"/>
              </a:tblGrid>
              <a:tr h="133731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000000"/>
                          </a:solidFill>
                        </a:defRPr>
                      </a:pPr>
                      <a:r>
                        <a:rPr b="1" sz="2200">
                          <a:solidFill>
                            <a:srgbClr val="16314E"/>
                          </a:solidFill>
                        </a:rPr>
                        <a:t>数据项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来源字段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数据表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计算方式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口径说明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道路等级统计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dws_road_class_analysis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MAX(stat_date)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按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total_pass DESC </a:t>
                      </a:r>
                      <a:r>
                        <a:t>取前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输出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className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roadCount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totalPass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avgSpeedKmh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congestionLevel</a:t>
                      </a:r>
                      <a:r>
                        <a:t>、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avgLengthM</a:t>
                      </a:r>
                      <a: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轨迹样本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dwd_taxi_trip</a:t>
                      </a:r>
                    </a:p>
                    <a:p>
                      <a:pPr>
                        <a:def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route_geom IS NOT NULL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t>按 trip_id DESC 取最新样本，默认 16 条、最多 30 条。
tripId = trip_id；devid = 设备号。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轨迹路径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dwd_taxi_trip.route_geom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解析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LINESTRING </a:t>
                      </a:r>
                      <a:r>
                        <a:t>坐标，自动校验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</a:t>
                      </a:r>
                      <a:r>
                        <a:t>纠正经纬度顺序。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仅保留哈尔滨范围内坐标，连续重复点去重，最多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120 </a:t>
                      </a:r>
                      <a:r>
                        <a:t>个点。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轨迹点数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gps_points_count / path.length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优先使用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gps_points_count</a:t>
                      </a:r>
                      <a:r>
                        <a:t>；为空或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 </a:t>
                      </a:r>
                      <a:r>
                        <a:t>时使用解析出的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path.length</a:t>
                      </a:r>
                      <a: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轨迹里程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route_distance_m / route_geom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优先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route_distance_m / 1000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缺失时按轨迹点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haversine </a:t>
                      </a:r>
                      <a:r>
                        <a:t>距离累加，保留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 </a:t>
                      </a:r>
                      <a:r>
                        <a:t>位小数。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轨迹均速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avg_speed_kmh / trip_duration_s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优先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avg_speed_kmh</a:t>
                      </a:r>
                      <a:r>
                        <a:t>；缺失时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distanceKm / trip_duration_s × 3600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若速度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≤0 </a:t>
                      </a:r>
                      <a:r>
                        <a:t>或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&gt;120</a:t>
                      </a:r>
                      <a:r>
                        <a:t>，则用估算函数修正。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速度等级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</a:rPr>
                        <a:t>由轨迹均速派生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avgSpeedKmh &lt; 18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：缓行。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18 ≤ avgSpeedKmh &lt; 35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：平稳。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avgSpeedKmh ≥ 35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：畅通。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AFC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75" name="Rectangle 2"/>
          <p:cNvSpPr/>
          <p:nvPr/>
        </p:nvSpPr>
        <p:spPr>
          <a:xfrm>
            <a:off x="0" y="-1"/>
            <a:ext cx="24384000" cy="1325882"/>
          </a:xfrm>
          <a:prstGeom prst="rect">
            <a:avLst/>
          </a:prstGeom>
          <a:solidFill>
            <a:srgbClr val="16314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76" name="Rectangle 3"/>
          <p:cNvSpPr/>
          <p:nvPr/>
        </p:nvSpPr>
        <p:spPr>
          <a:xfrm>
            <a:off x="0" y="1325880"/>
            <a:ext cx="24384000" cy="73154"/>
          </a:xfrm>
          <a:prstGeom prst="rect">
            <a:avLst/>
          </a:prstGeom>
          <a:solidFill>
            <a:srgbClr val="0F96AA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</a:p>
        </p:txBody>
      </p:sp>
      <p:sp>
        <p:nvSpPr>
          <p:cNvPr id="277" name="TextBox 4"/>
          <p:cNvSpPr txBox="1"/>
          <p:nvPr/>
        </p:nvSpPr>
        <p:spPr>
          <a:xfrm>
            <a:off x="914399" y="256030"/>
            <a:ext cx="718851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计算口径 </a:t>
            </a:r>
            <a:r>
              <a:rPr>
                <a:latin typeface="Microsoft YaHei"/>
                <a:ea typeface="Microsoft YaHei"/>
                <a:cs typeface="Microsoft YaHei"/>
                <a:sym typeface="Microsoft YaHei"/>
              </a:rPr>
              <a:t>4</a:t>
            </a:r>
            <a:r>
              <a:t>：地图图层、派生展示与新鲜度</a:t>
            </a:r>
          </a:p>
        </p:txBody>
      </p:sp>
      <p:sp>
        <p:nvSpPr>
          <p:cNvPr id="278" name="TextBox 5"/>
          <p:cNvSpPr txBox="1"/>
          <p:nvPr/>
        </p:nvSpPr>
        <p:spPr>
          <a:xfrm>
            <a:off x="22415499" y="347473"/>
            <a:ext cx="764539" cy="320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r">
              <a:defRPr sz="1300">
                <a:solidFill>
                  <a:srgbClr val="C6E7EE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前端派生</a:t>
            </a:r>
          </a:p>
        </p:txBody>
      </p:sp>
      <p:graphicFrame>
        <p:nvGraphicFramePr>
          <p:cNvPr id="279" name="Table 6"/>
          <p:cNvGraphicFramePr/>
          <p:nvPr/>
        </p:nvGraphicFramePr>
        <p:xfrm>
          <a:off x="822960" y="1874517"/>
          <a:ext cx="22722840" cy="10698483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977639"/>
                <a:gridCol w="6812280"/>
                <a:gridCol w="11932920"/>
              </a:tblGrid>
              <a:tr h="1337310">
                <a:tc>
                  <a:txBody>
                    <a:bodyPr/>
                    <a:lstStyle/>
                    <a:p>
                      <a:pPr>
                        <a:defRPr b="0">
                          <a:solidFill>
                            <a:srgbClr val="000000"/>
                          </a:solidFill>
                        </a:defRPr>
                      </a:pPr>
                      <a:r>
                        <a:rPr b="1" sz="2200">
                          <a:solidFill>
                            <a:srgbClr val="16314E"/>
                          </a:solidFill>
                        </a:rPr>
                        <a:t>数据项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来源字段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数据表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6314E"/>
                          </a:solidFill>
                        </a:defRPr>
                      </a:pPr>
                      <a:r>
                        <a:t>计算方式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/ </a:t>
                      </a:r>
                      <a:r>
                        <a:t>口径说明</a:t>
                      </a:r>
                    </a:p>
                  </a:txBody>
                  <a:tcPr marL="73152" marR="73152" marT="73152" marB="73152" anchor="t" anchorCtr="0" horzOverflow="overflow">
                    <a:solidFill>
                      <a:srgbClr val="E2F1F8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地图区域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hotspots + trips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zone 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来源于热点。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flow = passCount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，缺失时 </a:t>
                      </a:r>
                      <a:r>
                        <a:t>intensity × 5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activeVehicles = uniqueTaxis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，缺失时 </a:t>
                      </a:r>
                      <a:r>
                        <a:t>max(3, round(intensity / 1.4))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区域等级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</a:rPr>
                        <a:t>热点排序位置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第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 </a:t>
                      </a:r>
                      <a:r>
                        <a:t>个热点为高流量；第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2-5 </a:t>
                      </a:r>
                      <a:r>
                        <a:t>个为中流量；其余为低流量。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热力点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hotspots.intensity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第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 </a:t>
                      </a:r>
                      <a:r>
                        <a:t>个热点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intensity = 1</a:t>
                      </a:r>
                      <a:r>
                        <a:t>；其他点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intensity = max(0.12, hotspot.intensity / 10)</a:t>
                      </a:r>
                      <a:r>
                        <a:t>，保留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 </a:t>
                      </a:r>
                      <a:r>
                        <a:t>位小数。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地图边界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热点坐标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+ </a:t>
                      </a:r>
                      <a:r>
                        <a:t>轨迹点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boundsFor(allPoints)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：取所有点 </a:t>
                      </a:r>
                      <a:r>
                        <a:t>min/max lat/lon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无点时使用哈尔滨默认边界。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t>复盘样本速度占比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trips.avgSpeedKmh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t>快速：avgSpeedKmh ≥ 35；慢速：avgSpeedKmh &lt; 18；中速：其余。
用于“复盘样本”速度占比环图，不代表总采样轨迹。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服务统计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58657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hotspots Top5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服务数据条形图使用热点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Top5 </a:t>
                      </a:r>
                      <a:r>
                        <a:t>的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intensity</a:t>
                      </a:r>
                      <a: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路段服务统计：频次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=count</a:t>
                      </a:r>
                      <a:r>
                        <a:t>，超速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=round(count×0.62)</a:t>
                      </a:r>
                      <a:r>
                        <a:t>，绕行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=round(count×0.42)</a:t>
                      </a:r>
                      <a:r>
                        <a:t>，为演示估算项。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AFCFE"/>
                    </a:solidFill>
                  </a:tcPr>
                </a:tc>
              </a:tr>
              <a:tr h="1337310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1F2937"/>
                          </a:solidFill>
                        </a:rPr>
                        <a:t>数据新鲜度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586577"/>
                          </a:solidFill>
                        </a:defRPr>
                      </a:pPr>
                      <a:r>
                        <a:t>前端刷新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+ API</a:t>
                      </a:r>
                      <a:r>
                        <a:t>缓存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前端每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60 </a:t>
                      </a:r>
                      <a:r>
                        <a:t>秒刷新。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API TTL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：</a:t>
                      </a:r>
                      <a:r>
                        <a:t>overview 300s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timeline 600s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hotspots/congested/map 900s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；</a:t>
                      </a:r>
                      <a:r>
                        <a:t>roadClasses/trips 1800s</a:t>
                      </a:r>
                      <a:r>
                        <a:rPr>
                          <a:latin typeface="+mn-lt"/>
                          <a:ea typeface="+mn-ea"/>
                          <a:cs typeface="+mn-cs"/>
                          <a:sym typeface="Helvetica Neue"/>
                        </a:rPr>
                        <a:t>。</a:t>
                      </a:r>
                    </a:p>
                    <a:p>
                      <a:pPr>
                        <a:defRPr sz="2200">
                          <a:solidFill>
                            <a:srgbClr val="1F2937"/>
                          </a:solidFill>
                        </a:defRPr>
                      </a:pPr>
                      <a:r>
                        <a:t>异常时返回 </a:t>
                      </a:r>
                      <a:r>
                        <a:rPr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fallback</a:t>
                      </a:r>
                      <a:r>
                        <a:t>。</a:t>
                      </a:r>
                    </a:p>
                  </a:txBody>
                  <a:tcPr marL="64008" marR="64008" marT="64008" marB="64008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Image 0" descr="Image 0"/>
          <p:cNvPicPr>
            <a:picLocks noChangeAspect="1"/>
          </p:cNvPicPr>
          <p:nvPr/>
        </p:nvPicPr>
        <p:blipFill>
          <a:blip r:embed="rId3">
            <a:alphaModFix amt="40000"/>
            <a:extLst/>
          </a:blip>
          <a:srcRect l="0" t="12163" r="0" b="6894"/>
          <a:stretch>
            <a:fillRect/>
          </a:stretch>
        </p:blipFill>
        <p:spPr>
          <a:xfrm>
            <a:off x="2302510" y="-3"/>
            <a:ext cx="7230110" cy="13716005"/>
          </a:xfrm>
          <a:prstGeom prst="rect">
            <a:avLst/>
          </a:prstGeom>
          <a:ln w="12700">
            <a:miter lim="400000"/>
          </a:ln>
        </p:spPr>
      </p:pic>
      <p:sp>
        <p:nvSpPr>
          <p:cNvPr id="282" name="Text 0"/>
          <p:cNvSpPr txBox="1"/>
          <p:nvPr/>
        </p:nvSpPr>
        <p:spPr>
          <a:xfrm>
            <a:off x="1082038" y="1064260"/>
            <a:ext cx="20958814" cy="127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50000"/>
              </a:lnSpc>
              <a:spcBef>
                <a:spcPts val="0"/>
              </a:spcBef>
              <a:defRPr sz="7200">
                <a:solidFill>
                  <a:srgbClr val="0D0D0D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数据汇聚到治理能力的跃迁</a:t>
            </a:r>
          </a:p>
        </p:txBody>
      </p:sp>
      <p:pic>
        <p:nvPicPr>
          <p:cNvPr id="283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rcRect l="275" t="0" r="274" b="0"/>
          <a:stretch>
            <a:fillRect/>
          </a:stretch>
        </p:blipFill>
        <p:spPr>
          <a:xfrm>
            <a:off x="2917188" y="3284220"/>
            <a:ext cx="1376682" cy="1383034"/>
          </a:xfrm>
          <a:prstGeom prst="rect">
            <a:avLst/>
          </a:prstGeom>
          <a:ln w="12700">
            <a:miter lim="400000"/>
          </a:ln>
        </p:spPr>
      </p:pic>
      <p:pic>
        <p:nvPicPr>
          <p:cNvPr id="284" name="Image 2" descr="Image 2"/>
          <p:cNvPicPr>
            <a:picLocks noChangeAspect="1"/>
          </p:cNvPicPr>
          <p:nvPr/>
        </p:nvPicPr>
        <p:blipFill>
          <a:blip r:embed="rId4">
            <a:extLst/>
          </a:blip>
          <a:srcRect l="275" t="0" r="274" b="0"/>
          <a:stretch>
            <a:fillRect/>
          </a:stretch>
        </p:blipFill>
        <p:spPr>
          <a:xfrm>
            <a:off x="1699259" y="6663690"/>
            <a:ext cx="1376685" cy="1383034"/>
          </a:xfrm>
          <a:prstGeom prst="rect">
            <a:avLst/>
          </a:prstGeom>
          <a:ln w="12700">
            <a:miter lim="400000"/>
          </a:ln>
        </p:spPr>
      </p:pic>
      <p:pic>
        <p:nvPicPr>
          <p:cNvPr id="285" name="Image 3" descr="Image 3"/>
          <p:cNvPicPr>
            <a:picLocks noChangeAspect="1"/>
          </p:cNvPicPr>
          <p:nvPr/>
        </p:nvPicPr>
        <p:blipFill>
          <a:blip r:embed="rId4">
            <a:extLst/>
          </a:blip>
          <a:srcRect l="275" t="0" r="274" b="0"/>
          <a:stretch>
            <a:fillRect/>
          </a:stretch>
        </p:blipFill>
        <p:spPr>
          <a:xfrm>
            <a:off x="3075938" y="10445750"/>
            <a:ext cx="1376682" cy="1383031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Text 1"/>
          <p:cNvSpPr txBox="1"/>
          <p:nvPr/>
        </p:nvSpPr>
        <p:spPr>
          <a:xfrm>
            <a:off x="2926077" y="3464559"/>
            <a:ext cx="1377955" cy="977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6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87" name="Text 2"/>
          <p:cNvSpPr txBox="1"/>
          <p:nvPr/>
        </p:nvSpPr>
        <p:spPr>
          <a:xfrm>
            <a:off x="7042149" y="3442970"/>
            <a:ext cx="13308334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打破孤岛一源多用</a:t>
            </a:r>
          </a:p>
        </p:txBody>
      </p:sp>
      <p:sp>
        <p:nvSpPr>
          <p:cNvPr id="288" name="Text 3"/>
          <p:cNvSpPr txBox="1"/>
          <p:nvPr/>
        </p:nvSpPr>
        <p:spPr>
          <a:xfrm>
            <a:off x="7042150" y="4272279"/>
            <a:ext cx="15590520" cy="127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just" defTabSz="1828800">
              <a:lnSpc>
                <a:spcPct val="150000"/>
              </a:lnSpc>
              <a:spcBef>
                <a:spcPts val="0"/>
              </a:spcBef>
              <a:defRPr sz="28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交通部门、出租车企业、支付平台数据汇聚统一中台，结束数据割裂局面，实现跨部门数据共享与业务协同。</a:t>
            </a:r>
          </a:p>
        </p:txBody>
      </p:sp>
      <p:sp>
        <p:nvSpPr>
          <p:cNvPr id="289" name="Text 4"/>
          <p:cNvSpPr txBox="1"/>
          <p:nvPr/>
        </p:nvSpPr>
        <p:spPr>
          <a:xfrm>
            <a:off x="1709420" y="6858000"/>
            <a:ext cx="1377954" cy="977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6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90" name="Text 5"/>
          <p:cNvSpPr txBox="1"/>
          <p:nvPr/>
        </p:nvSpPr>
        <p:spPr>
          <a:xfrm>
            <a:off x="4210050" y="6663690"/>
            <a:ext cx="15412720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洞察规律读懂城市</a:t>
            </a:r>
          </a:p>
        </p:txBody>
      </p:sp>
      <p:sp>
        <p:nvSpPr>
          <p:cNvPr id="291" name="Text 6"/>
          <p:cNvSpPr txBox="1"/>
          <p:nvPr/>
        </p:nvSpPr>
        <p:spPr>
          <a:xfrm>
            <a:off x="4210050" y="7493000"/>
            <a:ext cx="15590520" cy="127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just" defTabSz="1828800">
              <a:lnSpc>
                <a:spcPct val="150000"/>
              </a:lnSpc>
              <a:spcBef>
                <a:spcPts val="0"/>
              </a:spcBef>
              <a:defRPr sz="28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OD矩阵发现通勤走廊，热点分析识别夜经济，速度分布诊断拥堵，将原始数据转化为可理解的城市运行规律。</a:t>
            </a:r>
          </a:p>
        </p:txBody>
      </p:sp>
      <p:sp>
        <p:nvSpPr>
          <p:cNvPr id="292" name="Text 7"/>
          <p:cNvSpPr txBox="1"/>
          <p:nvPr/>
        </p:nvSpPr>
        <p:spPr>
          <a:xfrm>
            <a:off x="3087370" y="10651490"/>
            <a:ext cx="1377954" cy="977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828800">
              <a:lnSpc>
                <a:spcPct val="100000"/>
              </a:lnSpc>
              <a:spcBef>
                <a:spcPts val="0"/>
              </a:spcBef>
              <a:defRPr sz="640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93" name="Text 8"/>
          <p:cNvSpPr txBox="1"/>
          <p:nvPr/>
        </p:nvSpPr>
        <p:spPr>
          <a:xfrm>
            <a:off x="6816089" y="9884409"/>
            <a:ext cx="13140692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828800">
              <a:lnSpc>
                <a:spcPct val="100000"/>
              </a:lnSpc>
              <a:spcBef>
                <a:spcPts val="0"/>
              </a:spcBef>
              <a:defRPr sz="4000">
                <a:solidFill>
                  <a:srgbClr val="0439E1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智能决策自动响应</a:t>
            </a:r>
          </a:p>
        </p:txBody>
      </p:sp>
      <p:sp>
        <p:nvSpPr>
          <p:cNvPr id="294" name="Text 9"/>
          <p:cNvSpPr txBox="1"/>
          <p:nvPr/>
        </p:nvSpPr>
        <p:spPr>
          <a:xfrm>
            <a:off x="6816090" y="10713718"/>
            <a:ext cx="15589252" cy="127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just" defTabSz="1828800">
              <a:lnSpc>
                <a:spcPct val="150000"/>
              </a:lnSpc>
              <a:spcBef>
                <a:spcPts val="0"/>
              </a:spcBef>
              <a:defRPr sz="2800">
                <a:solidFill>
                  <a:srgbClr val="262626"/>
                </a:solidFill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r>
              <a:t>异常自动预警、运力智能调度、政策效果量化评估，数据中台成为城市治理能力的数字孪生，让交通运行可感知、可分析、可决策、可优化。</a:t>
            </a:r>
          </a:p>
        </p:txBody>
      </p:sp>
      <p:sp>
        <p:nvSpPr>
          <p:cNvPr id="295" name="文本框 15"/>
          <p:cNvSpPr txBox="1"/>
          <p:nvPr>
            <p:ph type="sldNum" sz="quarter" idx="4294967295"/>
          </p:nvPr>
        </p:nvSpPr>
        <p:spPr>
          <a:xfrm>
            <a:off x="23164832" y="12861656"/>
            <a:ext cx="449848" cy="72897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91436" tIns="91436" rIns="91436" bIns="91436" anchor="t"/>
          <a:lstStyle>
            <a:lvl1pPr algn="l" defTabSz="1828800">
              <a:defRPr sz="3600">
                <a:latin typeface="微软雅黑"/>
                <a:ea typeface="微软雅黑"/>
                <a:cs typeface="微软雅黑"/>
                <a:sym typeface="微软雅黑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