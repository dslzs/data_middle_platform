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1.tif" ContentType="image/tif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正文级别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正文级别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正文级别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正文级别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幻灯片项目符号文本</a:t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正文级别 1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defTabSz="726440">
              <a:lnSpc>
                <a:spcPct val="100000"/>
              </a:lnSpc>
              <a:spcBef>
                <a:spcPts val="0"/>
              </a:spcBef>
              <a:defRPr b="1"/>
            </a:lvl2pPr>
            <a:lvl3pPr defTabSz="726440">
              <a:lnSpc>
                <a:spcPct val="100000"/>
              </a:lnSpc>
              <a:spcBef>
                <a:spcPts val="0"/>
              </a:spcBef>
              <a:defRPr b="1"/>
            </a:lvl3pPr>
            <a:lvl4pPr defTabSz="726440">
              <a:lnSpc>
                <a:spcPct val="100000"/>
              </a:lnSpc>
              <a:spcBef>
                <a:spcPts val="0"/>
              </a:spcBef>
              <a:defRPr b="1"/>
            </a:lvl4pPr>
            <a:lvl5pPr defTabSz="726440">
              <a:lnSpc>
                <a:spcPct val="100000"/>
              </a:lnSpc>
              <a:spcBef>
                <a:spcPts val="0"/>
              </a:spcBef>
              <a:defRPr b="1"/>
            </a:lvl5pPr>
          </a:lstStyle>
          <a:p>
            <a:pPr/>
            <a:r>
              <a:t>议程副标题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正文级别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议程主题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文级别 1…"/>
          <p:cNvSpPr txBox="1"/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00"/>
            </a:lvl1pPr>
            <a:lvl2pPr marL="990600" indent="-381000" defTabSz="701675">
              <a:lnSpc>
                <a:spcPct val="100000"/>
              </a:lnSpc>
              <a:spcBef>
                <a:spcPts val="0"/>
              </a:spcBef>
              <a:defRPr b="1" sz="3000"/>
            </a:lvl2pPr>
            <a:lvl3pPr marL="1600200" indent="-381000" defTabSz="701675">
              <a:lnSpc>
                <a:spcPct val="100000"/>
              </a:lnSpc>
              <a:spcBef>
                <a:spcPts val="0"/>
              </a:spcBef>
              <a:defRPr b="1" sz="3000"/>
            </a:lvl3pPr>
            <a:lvl4pPr marL="2209800" indent="-381000" defTabSz="701675">
              <a:lnSpc>
                <a:spcPct val="100000"/>
              </a:lnSpc>
              <a:spcBef>
                <a:spcPts val="0"/>
              </a:spcBef>
              <a:defRPr b="1" sz="3000"/>
            </a:lvl4pPr>
            <a:lvl5pPr marL="2819400" indent="-381000" defTabSz="701675">
              <a:lnSpc>
                <a:spcPct val="100000"/>
              </a:lnSpc>
              <a:spcBef>
                <a:spcPts val="0"/>
              </a:spcBef>
              <a:defRPr b="1" sz="3000"/>
            </a:lvl5pPr>
          </a:lstStyle>
          <a:p>
            <a:pPr/>
            <a:r>
              <a:t>出自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正文级别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“著名引文”</a:t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标题文本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.t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0" descr="Image 0"/>
          <p:cNvPicPr>
            <a:picLocks noChangeAspect="1"/>
          </p:cNvPicPr>
          <p:nvPr/>
        </p:nvPicPr>
        <p:blipFill>
          <a:blip r:embed="rId3">
            <a:alphaModFix amt="56000"/>
            <a:extLst/>
          </a:blip>
          <a:stretch>
            <a:fillRect/>
          </a:stretch>
        </p:blipFill>
        <p:spPr>
          <a:xfrm>
            <a:off x="0" y="0"/>
            <a:ext cx="24382731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5009" y="7072630"/>
            <a:ext cx="13647422" cy="147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0800000">
            <a:off x="1075688" y="11797030"/>
            <a:ext cx="3407413" cy="754383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 0"/>
          <p:cNvSpPr txBox="1"/>
          <p:nvPr/>
        </p:nvSpPr>
        <p:spPr>
          <a:xfrm>
            <a:off x="10999778" y="4634865"/>
            <a:ext cx="3237887" cy="257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169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75" name="Text 1"/>
          <p:cNvSpPr txBox="1"/>
          <p:nvPr/>
        </p:nvSpPr>
        <p:spPr>
          <a:xfrm>
            <a:off x="6011545" y="7287259"/>
            <a:ext cx="13214352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数据应用与业务价值</a:t>
            </a:r>
          </a:p>
        </p:txBody>
      </p:sp>
      <p:sp>
        <p:nvSpPr>
          <p:cNvPr id="176" name="Shape 2"/>
          <p:cNvSpPr/>
          <p:nvPr/>
        </p:nvSpPr>
        <p:spPr>
          <a:xfrm>
            <a:off x="18637093" y="12665132"/>
            <a:ext cx="4127503" cy="3"/>
          </a:xfrm>
          <a:prstGeom prst="line">
            <a:avLst/>
          </a:prstGeom>
          <a:ln w="12700">
            <a:solidFill>
              <a:srgbClr val="000000">
                <a:alpha val="21961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7" name="Image 3" descr="Image 3"/>
          <p:cNvPicPr>
            <a:picLocks noChangeAspect="1"/>
          </p:cNvPicPr>
          <p:nvPr/>
        </p:nvPicPr>
        <p:blipFill>
          <a:blip r:embed="rId6">
            <a:alphaModFix amt="40000"/>
            <a:extLst/>
          </a:blip>
          <a:stretch>
            <a:fillRect/>
          </a:stretch>
        </p:blipFill>
        <p:spPr>
          <a:xfrm flipH="1" rot="10800000">
            <a:off x="1703070" y="1261110"/>
            <a:ext cx="1524003" cy="152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age 4" descr="Image 4"/>
          <p:cNvPicPr>
            <a:picLocks noChangeAspect="1"/>
          </p:cNvPicPr>
          <p:nvPr/>
        </p:nvPicPr>
        <p:blipFill>
          <a:blip r:embed="rId6">
            <a:alphaModFix amt="40000"/>
            <a:extLst/>
          </a:blip>
          <a:stretch>
            <a:fillRect/>
          </a:stretch>
        </p:blipFill>
        <p:spPr>
          <a:xfrm flipH="1" rot="10800000">
            <a:off x="1703070" y="1522730"/>
            <a:ext cx="1524003" cy="1524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1343660" y="1506218"/>
            <a:ext cx="21299170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50000"/>
              </a:lnSpc>
              <a:spcBef>
                <a:spcPts val="0"/>
              </a:spcBef>
              <a:defRPr sz="7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数据驱动六大业务场景落地</a:t>
            </a:r>
          </a:p>
        </p:txBody>
      </p:sp>
      <p:sp>
        <p:nvSpPr>
          <p:cNvPr id="181" name="Shape 1"/>
          <p:cNvSpPr/>
          <p:nvPr/>
        </p:nvSpPr>
        <p:spPr>
          <a:xfrm flipH="1">
            <a:off x="12209781" y="5028277"/>
            <a:ext cx="3" cy="5156203"/>
          </a:xfrm>
          <a:prstGeom prst="line">
            <a:avLst/>
          </a:prstGeom>
          <a:ln w="38100">
            <a:solidFill>
              <a:srgbClr val="5E98F5">
                <a:alpha val="305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Shape 2"/>
          <p:cNvSpPr/>
          <p:nvPr/>
        </p:nvSpPr>
        <p:spPr>
          <a:xfrm>
            <a:off x="18699480" y="12743180"/>
            <a:ext cx="4127503" cy="3"/>
          </a:xfrm>
          <a:prstGeom prst="line">
            <a:avLst/>
          </a:prstGeom>
          <a:ln w="12700">
            <a:solidFill>
              <a:srgbClr val="000000">
                <a:alpha val="21961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83" name="Image 0" descr="Image 0"/>
          <p:cNvPicPr>
            <a:picLocks noChangeAspect="1"/>
          </p:cNvPicPr>
          <p:nvPr/>
        </p:nvPicPr>
        <p:blipFill>
          <a:blip r:embed="rId3">
            <a:alphaModFix amt="40000"/>
            <a:extLst/>
          </a:blip>
          <a:stretch>
            <a:fillRect/>
          </a:stretch>
        </p:blipFill>
        <p:spPr>
          <a:xfrm flipH="1" rot="10800000">
            <a:off x="1765300" y="1338580"/>
            <a:ext cx="1524000" cy="152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 1" descr="Image 1"/>
          <p:cNvPicPr>
            <a:picLocks noChangeAspect="1"/>
          </p:cNvPicPr>
          <p:nvPr/>
        </p:nvPicPr>
        <p:blipFill>
          <a:blip r:embed="rId3">
            <a:alphaModFix amt="40000"/>
            <a:extLst/>
          </a:blip>
          <a:stretch>
            <a:fillRect/>
          </a:stretch>
        </p:blipFill>
        <p:spPr>
          <a:xfrm flipH="1" rot="10800000">
            <a:off x="1765300" y="1600200"/>
            <a:ext cx="1524000" cy="152400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6"/>
          <p:cNvSpPr txBox="1"/>
          <p:nvPr/>
        </p:nvSpPr>
        <p:spPr>
          <a:xfrm>
            <a:off x="5463540" y="4737100"/>
            <a:ext cx="1756413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6" name="Text 7"/>
          <p:cNvSpPr txBox="1"/>
          <p:nvPr/>
        </p:nvSpPr>
        <p:spPr>
          <a:xfrm>
            <a:off x="1343660" y="6301102"/>
            <a:ext cx="999617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全域感知与空间规划</a:t>
            </a:r>
          </a:p>
        </p:txBody>
      </p:sp>
      <p:sp>
        <p:nvSpPr>
          <p:cNvPr id="187" name="Text 8"/>
          <p:cNvSpPr txBox="1"/>
          <p:nvPr/>
        </p:nvSpPr>
        <p:spPr>
          <a:xfrm>
            <a:off x="2258696" y="7357108"/>
            <a:ext cx="8166101" cy="355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全域态势看板一屏监测在线率订单量营收趋势；通勤走廊分析识别职住分离优化公交专线；夜经济引力量化消费热力辅助商圈规划；枢纽接驳效能评估机场车站最后一公里瓶颈，数据层到业务层价值转化清晰可见。</a:t>
            </a:r>
          </a:p>
        </p:txBody>
      </p:sp>
      <p:sp>
        <p:nvSpPr>
          <p:cNvPr id="188" name="Text 9"/>
          <p:cNvSpPr txBox="1"/>
          <p:nvPr/>
        </p:nvSpPr>
        <p:spPr>
          <a:xfrm>
            <a:off x="17199610" y="4737100"/>
            <a:ext cx="1756413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 10"/>
          <p:cNvSpPr txBox="1"/>
          <p:nvPr/>
        </p:nvSpPr>
        <p:spPr>
          <a:xfrm>
            <a:off x="13079730" y="6301102"/>
            <a:ext cx="999617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精细监管与主动预警</a:t>
            </a:r>
          </a:p>
        </p:txBody>
      </p:sp>
      <p:sp>
        <p:nvSpPr>
          <p:cNvPr id="190" name="Text 11"/>
          <p:cNvSpPr txBox="1"/>
          <p:nvPr/>
        </p:nvSpPr>
        <p:spPr>
          <a:xfrm>
            <a:off x="13994764" y="7357109"/>
            <a:ext cx="8166103" cy="279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轨迹复盘回溯穿透DWD明细实现任意行程时空还原，投诉定责事故取证有据可依；营运异常预警实时识别绕路拒载疲劳驾驶，从被动事后处置跃迁为主动事前预警，治理能力本质提升。</a:t>
            </a:r>
          </a:p>
        </p:txBody>
      </p:sp>
      <p:sp>
        <p:nvSpPr>
          <p:cNvPr id="191" name="文本框 15"/>
          <p:cNvSpPr txBox="1"/>
          <p:nvPr>
            <p:ph type="sldNum" sz="quarter" idx="4294967295"/>
          </p:nvPr>
        </p:nvSpPr>
        <p:spPr>
          <a:xfrm>
            <a:off x="23164832" y="12861656"/>
            <a:ext cx="449850" cy="7289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7" tIns="91437" rIns="91437" bIns="91437" anchor="t"/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/>
        </p:nvSpPr>
        <p:spPr>
          <a:xfrm>
            <a:off x="1343660" y="1506218"/>
            <a:ext cx="2129917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50000"/>
              </a:lnSpc>
              <a:spcBef>
                <a:spcPts val="0"/>
              </a:spcBef>
              <a:defRPr b="1" sz="4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交通流量大盘功能总览</a:t>
            </a:r>
          </a:p>
        </p:txBody>
      </p:sp>
      <p:pic>
        <p:nvPicPr>
          <p:cNvPr id="194" name="Image 0" descr="Image 0"/>
          <p:cNvPicPr>
            <a:picLocks noChangeAspect="1"/>
          </p:cNvPicPr>
          <p:nvPr/>
        </p:nvPicPr>
        <p:blipFill>
          <a:blip r:embed="rId3">
            <a:alphaModFix amt="40000"/>
            <a:extLst/>
          </a:blip>
          <a:stretch>
            <a:fillRect/>
          </a:stretch>
        </p:blipFill>
        <p:spPr>
          <a:xfrm flipH="1" rot="10800000">
            <a:off x="1765300" y="1338580"/>
            <a:ext cx="1524000" cy="152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Image 1" descr="Image 1"/>
          <p:cNvPicPr>
            <a:picLocks noChangeAspect="1"/>
          </p:cNvPicPr>
          <p:nvPr/>
        </p:nvPicPr>
        <p:blipFill>
          <a:blip r:embed="rId3">
            <a:alphaModFix amt="40000"/>
            <a:extLst/>
          </a:blip>
          <a:stretch>
            <a:fillRect/>
          </a:stretch>
        </p:blipFill>
        <p:spPr>
          <a:xfrm flipH="1" rot="10800000">
            <a:off x="1765300" y="1600200"/>
            <a:ext cx="1524000" cy="152400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文本框 15"/>
          <p:cNvSpPr txBox="1"/>
          <p:nvPr>
            <p:ph type="sldNum" sz="quarter" idx="4294967295"/>
          </p:nvPr>
        </p:nvSpPr>
        <p:spPr>
          <a:xfrm>
            <a:off x="23164832" y="12861656"/>
            <a:ext cx="449850" cy="7289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7" tIns="91437" rIns="91437" bIns="91437" anchor="t"/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97" name="Rounded Rectangle 3"/>
          <p:cNvSpPr/>
          <p:nvPr/>
        </p:nvSpPr>
        <p:spPr>
          <a:xfrm>
            <a:off x="1219168" y="3712929"/>
            <a:ext cx="10782032" cy="1885953"/>
          </a:xfrm>
          <a:prstGeom prst="roundRect">
            <a:avLst>
              <a:gd name="adj" fmla="val 24242"/>
            </a:avLst>
          </a:prstGeom>
          <a:solidFill>
            <a:srgbClr val="D3E3FC"/>
          </a:solidFill>
          <a:ln w="12700">
            <a:solidFill>
              <a:srgbClr val="3B82F6"/>
            </a:solidFill>
            <a:miter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grpSp>
        <p:nvGrpSpPr>
          <p:cNvPr id="200" name="Picture 4"/>
          <p:cNvGrpSpPr/>
          <p:nvPr/>
        </p:nvGrpSpPr>
        <p:grpSpPr>
          <a:xfrm>
            <a:off x="1543008" y="4132857"/>
            <a:ext cx="533392" cy="417446"/>
            <a:chOff x="0" y="0"/>
            <a:chExt cx="533390" cy="417445"/>
          </a:xfrm>
        </p:grpSpPr>
        <p:sp>
          <p:nvSpPr>
            <p:cNvPr id="198" name="矩形"/>
            <p:cNvSpPr/>
            <p:nvPr/>
          </p:nvSpPr>
          <p:spPr>
            <a:xfrm>
              <a:off x="-1" y="-1"/>
              <a:ext cx="533391" cy="417446"/>
            </a:xfrm>
            <a:prstGeom prst="rect">
              <a:avLst/>
            </a:prstGeom>
            <a:solidFill>
              <a:srgbClr val="D3E3F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199" name="image14.png" descr="image14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-1"/>
              <a:ext cx="533391" cy="4174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TextBox 5"/>
          <p:cNvSpPr txBox="1"/>
          <p:nvPr/>
        </p:nvSpPr>
        <p:spPr>
          <a:xfrm>
            <a:off x="2367728" y="3706579"/>
            <a:ext cx="2320911" cy="124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defTabSz="1828800">
              <a:lnSpc>
                <a:spcPts val="4200"/>
              </a:lnSpc>
              <a:spcBef>
                <a:spcPts val="0"/>
              </a:spcBef>
              <a:defRPr b="1" sz="19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一屏态势总览</a:t>
            </a:r>
          </a:p>
          <a:p>
            <a:pPr defTabSz="1828800">
              <a:lnSpc>
                <a:spcPts val="4200"/>
              </a:lnSpc>
              <a:spcBef>
                <a:spcPts val="0"/>
              </a:spcBef>
              <a:defRPr sz="16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核心指标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+ </a:t>
            </a:r>
            <a:r>
              <a:t>趋势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+ </a:t>
            </a:r>
            <a:r>
              <a:t>地图</a:t>
            </a:r>
          </a:p>
        </p:txBody>
      </p:sp>
      <p:sp>
        <p:nvSpPr>
          <p:cNvPr id="202" name="TextBox 7"/>
          <p:cNvSpPr txBox="1"/>
          <p:nvPr/>
        </p:nvSpPr>
        <p:spPr>
          <a:xfrm>
            <a:off x="5557120" y="3749998"/>
            <a:ext cx="1387857" cy="1727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核心指标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活跃车辆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采样轨迹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总里程</a:t>
            </a:r>
          </a:p>
        </p:txBody>
      </p:sp>
      <p:sp>
        <p:nvSpPr>
          <p:cNvPr id="203" name="TextBox 11"/>
          <p:cNvSpPr txBox="1"/>
          <p:nvPr/>
        </p:nvSpPr>
        <p:spPr>
          <a:xfrm>
            <a:off x="8602350" y="3741858"/>
            <a:ext cx="1387857" cy="1727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小时趋势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平均速度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拥堵度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24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小时</a:t>
            </a:r>
          </a:p>
        </p:txBody>
      </p:sp>
      <p:sp>
        <p:nvSpPr>
          <p:cNvPr id="204" name="Rounded Rectangle 12"/>
          <p:cNvSpPr/>
          <p:nvPr/>
        </p:nvSpPr>
        <p:spPr>
          <a:xfrm>
            <a:off x="1181683" y="5990242"/>
            <a:ext cx="10819515" cy="1885953"/>
          </a:xfrm>
          <a:prstGeom prst="roundRect">
            <a:avLst>
              <a:gd name="adj" fmla="val 24242"/>
            </a:avLst>
          </a:prstGeom>
          <a:solidFill>
            <a:srgbClr val="D3E3FC"/>
          </a:solidFill>
          <a:ln w="12700">
            <a:solidFill>
              <a:srgbClr val="3B82F6"/>
            </a:solidFill>
            <a:miter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grpSp>
        <p:nvGrpSpPr>
          <p:cNvPr id="207" name="Picture 13"/>
          <p:cNvGrpSpPr/>
          <p:nvPr/>
        </p:nvGrpSpPr>
        <p:grpSpPr>
          <a:xfrm>
            <a:off x="1543008" y="6429218"/>
            <a:ext cx="533392" cy="417447"/>
            <a:chOff x="0" y="0"/>
            <a:chExt cx="533390" cy="417446"/>
          </a:xfrm>
        </p:grpSpPr>
        <p:sp>
          <p:nvSpPr>
            <p:cNvPr id="205" name="矩形"/>
            <p:cNvSpPr/>
            <p:nvPr/>
          </p:nvSpPr>
          <p:spPr>
            <a:xfrm>
              <a:off x="-1" y="-1"/>
              <a:ext cx="533391" cy="417447"/>
            </a:xfrm>
            <a:prstGeom prst="rect">
              <a:avLst/>
            </a:prstGeom>
            <a:solidFill>
              <a:srgbClr val="D3E3F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06" name="image41.png" descr="image41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-1"/>
              <a:ext cx="533391" cy="4174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8" name="TextBox 14"/>
          <p:cNvSpPr txBox="1"/>
          <p:nvPr/>
        </p:nvSpPr>
        <p:spPr>
          <a:xfrm>
            <a:off x="2299280" y="5848353"/>
            <a:ext cx="1603757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defTabSz="1828800">
              <a:lnSpc>
                <a:spcPts val="4200"/>
              </a:lnSpc>
              <a:spcBef>
                <a:spcPts val="0"/>
              </a:spcBef>
              <a:defRPr b="1" sz="18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区域车流地图</a:t>
            </a:r>
          </a:p>
        </p:txBody>
      </p:sp>
      <p:sp>
        <p:nvSpPr>
          <p:cNvPr id="209" name="TextBox 16"/>
          <p:cNvSpPr txBox="1"/>
          <p:nvPr/>
        </p:nvSpPr>
        <p:spPr>
          <a:xfrm>
            <a:off x="2369131" y="6452708"/>
            <a:ext cx="1464057" cy="1346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热点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Top5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通过次数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唯一车辆数</a:t>
            </a:r>
          </a:p>
        </p:txBody>
      </p:sp>
      <p:sp>
        <p:nvSpPr>
          <p:cNvPr id="210" name="TextBox 18"/>
          <p:cNvSpPr txBox="1"/>
          <p:nvPr/>
        </p:nvSpPr>
        <p:spPr>
          <a:xfrm>
            <a:off x="5548624" y="6452708"/>
            <a:ext cx="1404849" cy="1346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拥堵路段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高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中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低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平均速度</a:t>
            </a:r>
          </a:p>
        </p:txBody>
      </p:sp>
      <p:sp>
        <p:nvSpPr>
          <p:cNvPr id="211" name="TextBox 20"/>
          <p:cNvSpPr txBox="1"/>
          <p:nvPr/>
        </p:nvSpPr>
        <p:spPr>
          <a:xfrm>
            <a:off x="8602350" y="6452708"/>
            <a:ext cx="1387857" cy="1346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道路等级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路段数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总通过量</a:t>
            </a:r>
          </a:p>
        </p:txBody>
      </p:sp>
      <p:sp>
        <p:nvSpPr>
          <p:cNvPr id="212" name="Rounded Rectangle 21"/>
          <p:cNvSpPr/>
          <p:nvPr/>
        </p:nvSpPr>
        <p:spPr>
          <a:xfrm>
            <a:off x="1181683" y="8460378"/>
            <a:ext cx="10782032" cy="1885953"/>
          </a:xfrm>
          <a:prstGeom prst="roundRect">
            <a:avLst>
              <a:gd name="adj" fmla="val 24242"/>
            </a:avLst>
          </a:prstGeom>
          <a:solidFill>
            <a:srgbClr val="D3E3FC"/>
          </a:solidFill>
          <a:ln w="12700">
            <a:solidFill>
              <a:srgbClr val="3B82F6"/>
            </a:solidFill>
            <a:miter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grpSp>
        <p:nvGrpSpPr>
          <p:cNvPr id="215" name="Picture 22"/>
          <p:cNvGrpSpPr/>
          <p:nvPr/>
        </p:nvGrpSpPr>
        <p:grpSpPr>
          <a:xfrm>
            <a:off x="1505525" y="8839719"/>
            <a:ext cx="533392" cy="498618"/>
            <a:chOff x="0" y="0"/>
            <a:chExt cx="533390" cy="498616"/>
          </a:xfrm>
        </p:grpSpPr>
        <p:sp>
          <p:nvSpPr>
            <p:cNvPr id="213" name="矩形"/>
            <p:cNvSpPr/>
            <p:nvPr/>
          </p:nvSpPr>
          <p:spPr>
            <a:xfrm>
              <a:off x="-1" y="-1"/>
              <a:ext cx="533391" cy="498618"/>
            </a:xfrm>
            <a:prstGeom prst="rect">
              <a:avLst/>
            </a:prstGeom>
            <a:solidFill>
              <a:srgbClr val="D3E3F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14" name="image59.png" descr="image59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533391" cy="4986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6" name="TextBox 25"/>
          <p:cNvSpPr txBox="1"/>
          <p:nvPr/>
        </p:nvSpPr>
        <p:spPr>
          <a:xfrm>
            <a:off x="2065045" y="8839720"/>
            <a:ext cx="1805567" cy="1346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LINESTRING</a:t>
            </a:r>
            <a:endParaRPr sz="2400">
              <a:latin typeface="微软雅黑"/>
              <a:ea typeface="微软雅黑"/>
              <a:cs typeface="微软雅黑"/>
              <a:sym typeface="微软雅黑"/>
            </a:endParaRPr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里程计算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起止时间</a:t>
            </a:r>
          </a:p>
        </p:txBody>
      </p:sp>
      <p:sp>
        <p:nvSpPr>
          <p:cNvPr id="217" name="TextBox 27"/>
          <p:cNvSpPr txBox="1"/>
          <p:nvPr/>
        </p:nvSpPr>
        <p:spPr>
          <a:xfrm>
            <a:off x="4895720" y="9196469"/>
            <a:ext cx="1938248" cy="965709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速度等级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缓行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平稳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畅通</a:t>
            </a:r>
          </a:p>
        </p:txBody>
      </p:sp>
      <p:sp>
        <p:nvSpPr>
          <p:cNvPr id="218" name="TextBox 29"/>
          <p:cNvSpPr txBox="1"/>
          <p:nvPr/>
        </p:nvSpPr>
        <p:spPr>
          <a:xfrm>
            <a:off x="8595562" y="9321479"/>
            <a:ext cx="1464057" cy="965709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单车明细</a:t>
            </a:r>
            <a:endParaRPr sz="2400"/>
          </a:p>
          <a:p>
            <a:pPr marL="342900" indent="-342900" defTabSz="1828800">
              <a:lnSpc>
                <a:spcPts val="3000"/>
              </a:lnSpc>
              <a:spcBef>
                <a:spcPts val="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可点击查看</a:t>
            </a:r>
          </a:p>
        </p:txBody>
      </p:sp>
      <p:sp>
        <p:nvSpPr>
          <p:cNvPr id="219" name="Rounded Rectangle 30"/>
          <p:cNvSpPr/>
          <p:nvPr/>
        </p:nvSpPr>
        <p:spPr>
          <a:xfrm>
            <a:off x="1219168" y="10674356"/>
            <a:ext cx="5276718" cy="2305052"/>
          </a:xfrm>
          <a:prstGeom prst="roundRect">
            <a:avLst>
              <a:gd name="adj" fmla="val 19834"/>
            </a:avLst>
          </a:prstGeom>
          <a:solidFill>
            <a:srgbClr val="D3E3FC"/>
          </a:solidFill>
          <a:ln w="12700">
            <a:solidFill>
              <a:srgbClr val="3B82F6"/>
            </a:solidFill>
            <a:miter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grpSp>
        <p:nvGrpSpPr>
          <p:cNvPr id="222" name="Picture 31"/>
          <p:cNvGrpSpPr/>
          <p:nvPr/>
        </p:nvGrpSpPr>
        <p:grpSpPr>
          <a:xfrm>
            <a:off x="1543007" y="11088139"/>
            <a:ext cx="495293" cy="391638"/>
            <a:chOff x="-1" y="-1"/>
            <a:chExt cx="495291" cy="391636"/>
          </a:xfrm>
        </p:grpSpPr>
        <p:sp>
          <p:nvSpPr>
            <p:cNvPr id="220" name="矩形"/>
            <p:cNvSpPr/>
            <p:nvPr/>
          </p:nvSpPr>
          <p:spPr>
            <a:xfrm>
              <a:off x="-2" y="-2"/>
              <a:ext cx="495292" cy="391638"/>
            </a:xfrm>
            <a:prstGeom prst="rect">
              <a:avLst/>
            </a:prstGeom>
            <a:solidFill>
              <a:srgbClr val="D3E3F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21" name="image60.png" descr="image60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2" y="0"/>
              <a:ext cx="495293" cy="3916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3" name="TextBox 32"/>
          <p:cNvSpPr txBox="1"/>
          <p:nvPr/>
        </p:nvSpPr>
        <p:spPr>
          <a:xfrm>
            <a:off x="2304993" y="10721529"/>
            <a:ext cx="1349757" cy="700533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defTabSz="1828800">
              <a:lnSpc>
                <a:spcPts val="3800"/>
              </a:lnSpc>
              <a:spcBef>
                <a:spcPts val="0"/>
              </a:spcBef>
              <a:defRPr b="1" sz="2200">
                <a:solidFill>
                  <a:srgbClr val="0439E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占比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分析</a:t>
            </a:r>
          </a:p>
        </p:txBody>
      </p:sp>
      <p:sp>
        <p:nvSpPr>
          <p:cNvPr id="224" name="TextBox 34"/>
          <p:cNvSpPr txBox="1"/>
          <p:nvPr/>
        </p:nvSpPr>
        <p:spPr>
          <a:xfrm>
            <a:off x="2262490" y="11479773"/>
            <a:ext cx="1794257" cy="573025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marL="342900" indent="-342900" defTabSz="1828800">
              <a:lnSpc>
                <a:spcPts val="28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速度状态占比</a:t>
            </a:r>
          </a:p>
        </p:txBody>
      </p:sp>
      <p:sp>
        <p:nvSpPr>
          <p:cNvPr id="225" name="TextBox 36"/>
          <p:cNvSpPr txBox="1"/>
          <p:nvPr/>
        </p:nvSpPr>
        <p:spPr>
          <a:xfrm>
            <a:off x="2282373" y="11960043"/>
            <a:ext cx="1794257" cy="573025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marL="342900" indent="-342900" defTabSz="1828800">
              <a:lnSpc>
                <a:spcPts val="28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拥堵等级占比</a:t>
            </a:r>
          </a:p>
        </p:txBody>
      </p:sp>
      <p:sp>
        <p:nvSpPr>
          <p:cNvPr id="226" name="Rounded Rectangle 37"/>
          <p:cNvSpPr/>
          <p:nvPr/>
        </p:nvSpPr>
        <p:spPr>
          <a:xfrm>
            <a:off x="6724480" y="10674356"/>
            <a:ext cx="5276721" cy="2305052"/>
          </a:xfrm>
          <a:prstGeom prst="roundRect">
            <a:avLst>
              <a:gd name="adj" fmla="val 19834"/>
            </a:avLst>
          </a:prstGeom>
          <a:solidFill>
            <a:srgbClr val="D3E3FC"/>
          </a:solidFill>
          <a:ln w="12700">
            <a:solidFill>
              <a:srgbClr val="3B82F6"/>
            </a:solidFill>
            <a:miter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grpSp>
        <p:nvGrpSpPr>
          <p:cNvPr id="229" name="Picture 38"/>
          <p:cNvGrpSpPr/>
          <p:nvPr/>
        </p:nvGrpSpPr>
        <p:grpSpPr>
          <a:xfrm>
            <a:off x="7048319" y="11108296"/>
            <a:ext cx="495292" cy="351322"/>
            <a:chOff x="-1" y="-1"/>
            <a:chExt cx="495291" cy="351321"/>
          </a:xfrm>
        </p:grpSpPr>
        <p:sp>
          <p:nvSpPr>
            <p:cNvPr id="227" name="矩形"/>
            <p:cNvSpPr/>
            <p:nvPr/>
          </p:nvSpPr>
          <p:spPr>
            <a:xfrm>
              <a:off x="-2" y="-1"/>
              <a:ext cx="495292" cy="351321"/>
            </a:xfrm>
            <a:prstGeom prst="rect">
              <a:avLst/>
            </a:prstGeom>
            <a:solidFill>
              <a:srgbClr val="D3E3F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28" name="image61.png" descr="image61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2"/>
              <a:ext cx="495293" cy="351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30" name="TextBox 41"/>
          <p:cNvSpPr txBox="1"/>
          <p:nvPr/>
        </p:nvSpPr>
        <p:spPr>
          <a:xfrm>
            <a:off x="7238817" y="11654666"/>
            <a:ext cx="2200657" cy="573026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marL="342900" indent="-342900" defTabSz="1828800">
              <a:lnSpc>
                <a:spcPts val="28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服务统计趋势分析</a:t>
            </a:r>
          </a:p>
        </p:txBody>
      </p:sp>
      <p:sp>
        <p:nvSpPr>
          <p:cNvPr id="231" name="TextBox 42"/>
          <p:cNvSpPr/>
          <p:nvPr/>
        </p:nvSpPr>
        <p:spPr>
          <a:xfrm>
            <a:off x="7048320" y="12182698"/>
            <a:ext cx="641717" cy="545667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828800">
              <a:lnSpc>
                <a:spcPts val="2800"/>
              </a:lnSpc>
              <a:spcBef>
                <a:spcPts val="0"/>
              </a:spcBef>
              <a:defRPr sz="1600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2" name="TextBox 43"/>
          <p:cNvSpPr txBox="1"/>
          <p:nvPr/>
        </p:nvSpPr>
        <p:spPr>
          <a:xfrm>
            <a:off x="7238817" y="12169016"/>
            <a:ext cx="1794257" cy="573026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marL="342900" indent="-342900" defTabSz="1828800">
              <a:lnSpc>
                <a:spcPts val="2800"/>
              </a:lnSpc>
              <a:spcBef>
                <a:spcPts val="0"/>
              </a:spcBef>
              <a:buSzPct val="100000"/>
              <a:buFont typeface="Arial"/>
              <a:buChar char="•"/>
              <a:defRPr b="1" sz="1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订单趋势分析</a:t>
            </a:r>
          </a:p>
        </p:txBody>
      </p:sp>
      <p:sp>
        <p:nvSpPr>
          <p:cNvPr id="233" name="TextBox 23"/>
          <p:cNvSpPr txBox="1"/>
          <p:nvPr/>
        </p:nvSpPr>
        <p:spPr>
          <a:xfrm>
            <a:off x="2076393" y="8267997"/>
            <a:ext cx="1603757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>
            <a:lvl1pPr defTabSz="1828800">
              <a:lnSpc>
                <a:spcPts val="4200"/>
              </a:lnSpc>
              <a:spcBef>
                <a:spcPts val="0"/>
              </a:spcBef>
              <a:defRPr b="1" sz="18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轨迹复盘追溯</a:t>
            </a:r>
          </a:p>
        </p:txBody>
      </p:sp>
      <p:sp>
        <p:nvSpPr>
          <p:cNvPr id="234" name="TextBox 32"/>
          <p:cNvSpPr txBox="1"/>
          <p:nvPr/>
        </p:nvSpPr>
        <p:spPr>
          <a:xfrm>
            <a:off x="7641645" y="10877836"/>
            <a:ext cx="1349757" cy="700533"/>
          </a:xfrm>
          <a:prstGeom prst="rect">
            <a:avLst/>
          </a:prstGeom>
          <a:solidFill>
            <a:srgbClr val="D3E3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09728" tIns="109728" rIns="109728" bIns="109728" anchor="ctr">
            <a:spAutoFit/>
          </a:bodyPr>
          <a:lstStyle/>
          <a:p>
            <a:pPr defTabSz="1828800">
              <a:lnSpc>
                <a:spcPts val="3800"/>
              </a:lnSpc>
              <a:spcBef>
                <a:spcPts val="0"/>
              </a:spcBef>
              <a:defRPr b="1" sz="2200">
                <a:solidFill>
                  <a:srgbClr val="0439E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趋势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分析</a:t>
            </a:r>
          </a:p>
        </p:txBody>
      </p:sp>
      <p:pic>
        <p:nvPicPr>
          <p:cNvPr id="235" name="图像" descr="图像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4594749" y="3045481"/>
            <a:ext cx="7290303" cy="101342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0" y="3514090"/>
            <a:ext cx="24384000" cy="85737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5400000">
            <a:off x="14063980" y="1770377"/>
            <a:ext cx="8576311" cy="12062464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ext 0"/>
          <p:cNvSpPr txBox="1"/>
          <p:nvPr/>
        </p:nvSpPr>
        <p:spPr>
          <a:xfrm>
            <a:off x="1163318" y="1506218"/>
            <a:ext cx="2095881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50000"/>
              </a:lnSpc>
              <a:spcBef>
                <a:spcPts val="0"/>
              </a:spcBef>
              <a:defRPr b="1"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当前大盘数据项与业务意义</a:t>
            </a:r>
          </a:p>
        </p:txBody>
      </p:sp>
      <p:pic>
        <p:nvPicPr>
          <p:cNvPr id="240" name="Image 2" descr="Image 2"/>
          <p:cNvPicPr>
            <a:picLocks noChangeAspect="1"/>
          </p:cNvPicPr>
          <p:nvPr/>
        </p:nvPicPr>
        <p:blipFill>
          <a:blip r:embed="rId5">
            <a:alphaModFix amt="40000"/>
            <a:extLst/>
          </a:blip>
          <a:stretch>
            <a:fillRect/>
          </a:stretch>
        </p:blipFill>
        <p:spPr>
          <a:xfrm flipH="1" rot="10800000">
            <a:off x="21503639" y="1998977"/>
            <a:ext cx="1524003" cy="152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Image 3" descr="Image 3"/>
          <p:cNvPicPr>
            <a:picLocks noChangeAspect="1"/>
          </p:cNvPicPr>
          <p:nvPr/>
        </p:nvPicPr>
        <p:blipFill>
          <a:blip r:embed="rId5">
            <a:alphaModFix amt="40000"/>
            <a:extLst/>
          </a:blip>
          <a:stretch>
            <a:fillRect/>
          </a:stretch>
        </p:blipFill>
        <p:spPr>
          <a:xfrm flipH="1" rot="10800000">
            <a:off x="21503639" y="2260600"/>
            <a:ext cx="1524003" cy="15240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 1"/>
          <p:cNvSpPr txBox="1"/>
          <p:nvPr/>
        </p:nvSpPr>
        <p:spPr>
          <a:xfrm>
            <a:off x="1163319" y="4241800"/>
            <a:ext cx="10350501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功能模块</a:t>
            </a:r>
          </a:p>
        </p:txBody>
      </p:sp>
      <p:sp>
        <p:nvSpPr>
          <p:cNvPr id="243" name="Text 2"/>
          <p:cNvSpPr txBox="1"/>
          <p:nvPr/>
        </p:nvSpPr>
        <p:spPr>
          <a:xfrm>
            <a:off x="1163319" y="4975859"/>
            <a:ext cx="10351773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0"/>
              </a:spcBef>
              <a:defRPr b="1"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核心指标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趋势图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地图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热点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拥堵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轨迹复盘</a:t>
            </a:r>
          </a:p>
        </p:txBody>
      </p:sp>
      <p:sp>
        <p:nvSpPr>
          <p:cNvPr id="244" name="Text 3"/>
          <p:cNvSpPr txBox="1"/>
          <p:nvPr/>
        </p:nvSpPr>
        <p:spPr>
          <a:xfrm>
            <a:off x="1163319" y="8281668"/>
            <a:ext cx="103505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数据项口径</a:t>
            </a:r>
          </a:p>
        </p:txBody>
      </p:sp>
      <p:sp>
        <p:nvSpPr>
          <p:cNvPr id="245" name="Text 4"/>
          <p:cNvSpPr txBox="1"/>
          <p:nvPr/>
        </p:nvSpPr>
        <p:spPr>
          <a:xfrm>
            <a:off x="1163319" y="8992868"/>
            <a:ext cx="1035177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b="1" sz="16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overview / road_traffic / hotspot_analysis / dwd_taxi_trip</a:t>
            </a:r>
          </a:p>
        </p:txBody>
      </p:sp>
      <p:sp>
        <p:nvSpPr>
          <p:cNvPr id="246" name="Text 5"/>
          <p:cNvSpPr txBox="1"/>
          <p:nvPr/>
        </p:nvSpPr>
        <p:spPr>
          <a:xfrm>
            <a:off x="13067030" y="4241800"/>
            <a:ext cx="10350503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计算方式</a:t>
            </a:r>
          </a:p>
        </p:txBody>
      </p:sp>
      <p:sp>
        <p:nvSpPr>
          <p:cNvPr id="247" name="Text 6"/>
          <p:cNvSpPr txBox="1"/>
          <p:nvPr/>
        </p:nvSpPr>
        <p:spPr>
          <a:xfrm>
            <a:off x="13067030" y="4975859"/>
            <a:ext cx="10353043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0"/>
              </a:spcBef>
              <a:defRPr b="1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健康度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=58 + </a:t>
            </a:r>
            <a:r>
              <a:t>平均车速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×1.45</a:t>
            </a:r>
            <a:endParaRPr sz="2800"/>
          </a:p>
          <a:p>
            <a:pPr algn="just" defTabSz="1828800"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热点强度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=log10(pass_count)</a:t>
            </a:r>
            <a:endParaRPr sz="2800"/>
          </a:p>
          <a:p>
            <a:pPr algn="just" defTabSz="1828800"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拥堵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=</a:t>
            </a:r>
            <a:r>
              <a:t>高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中 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/ </a:t>
            </a:r>
            <a:r>
              <a:t>低</a:t>
            </a:r>
          </a:p>
        </p:txBody>
      </p:sp>
      <p:sp>
        <p:nvSpPr>
          <p:cNvPr id="248" name="Text 7"/>
          <p:cNvSpPr txBox="1"/>
          <p:nvPr/>
        </p:nvSpPr>
        <p:spPr>
          <a:xfrm>
            <a:off x="13067030" y="8281668"/>
            <a:ext cx="103505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数据新鲜度</a:t>
            </a:r>
          </a:p>
        </p:txBody>
      </p:sp>
      <p:sp>
        <p:nvSpPr>
          <p:cNvPr id="249" name="Text 8"/>
          <p:cNvSpPr txBox="1"/>
          <p:nvPr/>
        </p:nvSpPr>
        <p:spPr>
          <a:xfrm>
            <a:off x="13067030" y="8992868"/>
            <a:ext cx="10353043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 defTabSz="1828800">
              <a:lnSpc>
                <a:spcPct val="150000"/>
              </a:lnSpc>
              <a:spcBef>
                <a:spcPts val="0"/>
              </a:spcBef>
              <a:defRPr b="1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接口每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60</a:t>
            </a:r>
            <a:r>
              <a:t>秒刷新</a:t>
            </a:r>
            <a:endParaRPr sz="2800"/>
          </a:p>
          <a:p>
            <a:pPr algn="just" defTabSz="1828800"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缓存</a:t>
            </a:r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TTL 300-1800</a:t>
            </a:r>
            <a:r>
              <a:t>秒</a:t>
            </a:r>
            <a:endParaRPr sz="2800"/>
          </a:p>
          <a:p>
            <a:pPr algn="just" defTabSz="1828800">
              <a:lnSpc>
                <a:spcPct val="1500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异常时自动降级</a:t>
            </a:r>
          </a:p>
        </p:txBody>
      </p:sp>
      <p:sp>
        <p:nvSpPr>
          <p:cNvPr id="250" name="文本框 14"/>
          <p:cNvSpPr txBox="1"/>
          <p:nvPr>
            <p:ph type="sldNum" sz="quarter" idx="4294967295"/>
          </p:nvPr>
        </p:nvSpPr>
        <p:spPr>
          <a:xfrm>
            <a:off x="23164832" y="12861656"/>
            <a:ext cx="449850" cy="7289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7" tIns="91437" rIns="91437" bIns="91437" anchor="t"/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Rectangle 2"/>
          <p:cNvSpPr/>
          <p:nvPr/>
        </p:nvSpPr>
        <p:spPr>
          <a:xfrm>
            <a:off x="0" y="-1"/>
            <a:ext cx="24384000" cy="1325882"/>
          </a:xfrm>
          <a:prstGeom prst="rect">
            <a:avLst/>
          </a:prstGeom>
          <a:solidFill>
            <a:srgbClr val="16314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Rectangle 3"/>
          <p:cNvSpPr/>
          <p:nvPr/>
        </p:nvSpPr>
        <p:spPr>
          <a:xfrm>
            <a:off x="0" y="1325880"/>
            <a:ext cx="24384000" cy="73153"/>
          </a:xfrm>
          <a:prstGeom prst="rect">
            <a:avLst/>
          </a:prstGeom>
          <a:solidFill>
            <a:srgbClr val="0F96A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4"/>
          <p:cNvSpPr txBox="1"/>
          <p:nvPr/>
        </p:nvSpPr>
        <p:spPr>
          <a:xfrm>
            <a:off x="914400" y="256031"/>
            <a:ext cx="452151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计算口径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：核心总览指标</a:t>
            </a:r>
          </a:p>
        </p:txBody>
      </p:sp>
      <p:sp>
        <p:nvSpPr>
          <p:cNvPr id="256" name="TextBox 5"/>
          <p:cNvSpPr txBox="1"/>
          <p:nvPr/>
        </p:nvSpPr>
        <p:spPr>
          <a:xfrm>
            <a:off x="22149550" y="347472"/>
            <a:ext cx="10304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1300">
                <a:solidFill>
                  <a:srgbClr val="C6E7EE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DWS 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总览表</a:t>
            </a:r>
          </a:p>
        </p:txBody>
      </p:sp>
      <p:graphicFrame>
        <p:nvGraphicFramePr>
          <p:cNvPr id="257" name="Table 6"/>
          <p:cNvGraphicFramePr/>
          <p:nvPr/>
        </p:nvGraphicFramePr>
        <p:xfrm>
          <a:off x="822960" y="1874518"/>
          <a:ext cx="22722840" cy="1069848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977639"/>
                <a:gridCol w="6812280"/>
                <a:gridCol w="11932920"/>
              </a:tblGrid>
              <a:tr h="133731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数据项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来源字段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数据表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计算方式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口径说明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活跃车辆数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dws_taxi_overview.active_taxis</a:t>
                      </a:r>
                    </a:p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最新 </a:t>
                      </a:r>
                      <a:r>
                        <a:t>stat_date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直接读取最新统计日期的 </a:t>
                      </a:r>
                      <a:r>
                        <a:t>active_taxis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；空值或 </a:t>
                      </a:r>
                      <a:r>
                        <a:t>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时使用 </a:t>
                      </a:r>
                      <a:r>
                        <a:t>fallback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r>
                        <a:t>总采样轨迹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dws_taxi_overview.total_trips</a:t>
                      </a:r>
                    </a:p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最新 </a:t>
                      </a:r>
                      <a:r>
                        <a:t>stat_date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直接读取 </a:t>
                      </a:r>
                      <a:r>
                        <a:t>total_trips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，表示当前总览口径下的轨迹</a:t>
                      </a:r>
                      <a:r>
                        <a:t>/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行程采样数量。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估算总里程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dws_taxi_overview.total_distance_km</a:t>
                      </a:r>
                    </a:p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最新 </a:t>
                      </a:r>
                      <a:r>
                        <a:t>stat_date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total_distance_km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四舍五入保留 </a:t>
                      </a:r>
                      <a:r>
                        <a:t>2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位小数，单位 </a:t>
                      </a:r>
                      <a:r>
                        <a:t>km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平均车速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dws_taxi_overview.avg_speed_kmh</a:t>
                      </a:r>
                    </a:p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最新 </a:t>
                      </a:r>
                      <a:r>
                        <a:t>stat_date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avg_speed_kmh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四舍五入保留 </a:t>
                      </a:r>
                      <a:r>
                        <a:t>2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位小数，单位 </a:t>
                      </a:r>
                      <a:r>
                        <a:t>km/h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路网健康度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由平均车速派生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healthScore = clamp(round(58 + avgSpeedKmh × 1.45), 45, 96)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用于把速度转成 </a:t>
                      </a:r>
                      <a:r>
                        <a:t>0-100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风格的展示评分。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高峰小时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dws_taxi_overview.peak_hour</a:t>
                      </a:r>
                    </a:p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最新 </a:t>
                      </a:r>
                      <a:r>
                        <a:t>stat_date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直接读取 </a:t>
                      </a:r>
                      <a:r>
                        <a:t>peak_hour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，表示总览表已聚合出的峰值小时。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更新时间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API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响应时间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updatedAt = new Date().toISOString()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注意：这是接口生成</a:t>
                      </a:r>
                      <a:r>
                        <a:t>/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缓存刷新时间，不是底层业务 </a:t>
                      </a:r>
                      <a:r>
                        <a:t>stat_date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2"/>
          <p:cNvSpPr/>
          <p:nvPr/>
        </p:nvSpPr>
        <p:spPr>
          <a:xfrm>
            <a:off x="0" y="-1"/>
            <a:ext cx="24384000" cy="1325882"/>
          </a:xfrm>
          <a:prstGeom prst="rect">
            <a:avLst/>
          </a:prstGeom>
          <a:solidFill>
            <a:srgbClr val="16314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Rectangle 3"/>
          <p:cNvSpPr/>
          <p:nvPr/>
        </p:nvSpPr>
        <p:spPr>
          <a:xfrm>
            <a:off x="0" y="1325880"/>
            <a:ext cx="24384000" cy="73153"/>
          </a:xfrm>
          <a:prstGeom prst="rect">
            <a:avLst/>
          </a:prstGeom>
          <a:solidFill>
            <a:srgbClr val="0F96A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4"/>
          <p:cNvSpPr txBox="1"/>
          <p:nvPr/>
        </p:nvSpPr>
        <p:spPr>
          <a:xfrm>
            <a:off x="914400" y="256031"/>
            <a:ext cx="528351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计算口径 </a:t>
            </a:r>
            <a:r>
              <a:t>2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：趋势、热点与拥堵</a:t>
            </a:r>
          </a:p>
        </p:txBody>
      </p:sp>
      <p:sp>
        <p:nvSpPr>
          <p:cNvPr id="263" name="TextBox 5"/>
          <p:cNvSpPr txBox="1"/>
          <p:nvPr/>
        </p:nvSpPr>
        <p:spPr>
          <a:xfrm>
            <a:off x="22149550" y="347472"/>
            <a:ext cx="103049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1300">
                <a:solidFill>
                  <a:srgbClr val="C6E7EE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DWS 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分析表</a:t>
            </a:r>
          </a:p>
        </p:txBody>
      </p:sp>
      <p:graphicFrame>
        <p:nvGraphicFramePr>
          <p:cNvPr id="264" name="Table 6"/>
          <p:cNvGraphicFramePr/>
          <p:nvPr/>
        </p:nvGraphicFramePr>
        <p:xfrm>
          <a:off x="822960" y="1874518"/>
          <a:ext cx="22722840" cy="1069848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977639"/>
                <a:gridCol w="6812280"/>
                <a:gridCol w="11932920"/>
              </a:tblGrid>
              <a:tr h="1528354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数据项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来源字段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数据表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计算方式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口径说明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</a:tr>
              <a:tr h="1528354">
                <a:tc>
                  <a:txBody>
                    <a:bodyPr/>
                    <a:lstStyle/>
                    <a:p>
                      <a:r>
                        <a:t>趋势图（覆盖路段）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dws_road_traffic</a:t>
                      </a:r>
                    </a:p>
                    <a:p>
                      <a:r>
                        <a:t>最近24个小时点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按 stat_date DESC、stat_hour DESC 取最近 24 条，再按时间正序展示。</a:t>
                      </a:r>
                    </a:p>
                    <a:p>
                      <a:r>
                        <a:t>hour 单日显示 HH:00，跨日期显示 MM/DD HH:00。</a:t>
                      </a:r>
                    </a:p>
                    <a:p>
                      <a:r>
                        <a:t>覆盖路段数 = total_roads；avgSpeed = avg_speed_kmh。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528354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趋势拥堵度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dws_road_traffic.avg_congestion
congested_roads / total_roads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优先使用 </a:t>
                      </a:r>
                      <a:r>
                        <a:t>avg_congestion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，并限制最大为 </a:t>
                      </a:r>
                      <a:r>
                        <a:t>1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若缺失，则 </a:t>
                      </a:r>
                      <a:r>
                        <a:t>congestion = congested_roads / total_roads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；仍缺失默认 </a:t>
                      </a:r>
                      <a:r>
                        <a:t>0.38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528354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热点</a:t>
                      </a:r>
                      <a:r>
                        <a:t>TopN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dws_hotspot_analysis h
LEFT JOIN dim_road_segment d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取 </a:t>
                      </a:r>
                      <a:r>
                        <a:t>MAX(stat_date)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，按 </a:t>
                      </a:r>
                      <a:r>
                        <a:t>pass_count DESC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排序。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坐标取道路起点</a:t>
                      </a:r>
                      <a:r>
                        <a:t>/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终点中点；无有效哈尔滨坐标则过滤。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528354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热点强度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dws_hotspot_analysis.pass_count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intensity = max(1, round(log10(pass_count)))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passCount = pass_count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uniqueTaxis = unique_taxis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type = road_class_name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528354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拥堵路段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dws_hotspot_analysis
MAX(stat_date)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按 </a:t>
                      </a:r>
                      <a:r>
                        <a:t>COALESCE(congestion_level,0) DESC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pass_count DESC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排序。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count = pass_count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avgSpeedKmh = avg_speed_kmh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528356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拥堵等级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congestion_level + avg_speed_kmh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高：</a:t>
                      </a:r>
                      <a:r>
                        <a:t>congestion_level ≥ 0.65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或 </a:t>
                      </a:r>
                      <a:r>
                        <a:t>avg_speed_kmh &lt; 24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中：</a:t>
                      </a:r>
                      <a:r>
                        <a:t>congestion_level ≥ 0.35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或 </a:t>
                      </a:r>
                      <a:r>
                        <a:t>avg_speed_kmh &lt; 38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其余为低。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2"/>
          <p:cNvSpPr/>
          <p:nvPr/>
        </p:nvSpPr>
        <p:spPr>
          <a:xfrm>
            <a:off x="0" y="-1"/>
            <a:ext cx="24384000" cy="1325882"/>
          </a:xfrm>
          <a:prstGeom prst="rect">
            <a:avLst/>
          </a:prstGeom>
          <a:solidFill>
            <a:srgbClr val="16314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3"/>
          <p:cNvSpPr/>
          <p:nvPr/>
        </p:nvSpPr>
        <p:spPr>
          <a:xfrm>
            <a:off x="0" y="1325880"/>
            <a:ext cx="24384000" cy="73153"/>
          </a:xfrm>
          <a:prstGeom prst="rect">
            <a:avLst/>
          </a:prstGeom>
          <a:solidFill>
            <a:srgbClr val="0F96A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4"/>
          <p:cNvSpPr txBox="1"/>
          <p:nvPr/>
        </p:nvSpPr>
        <p:spPr>
          <a:xfrm>
            <a:off x="914400" y="256031"/>
            <a:ext cx="566451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计算口径 </a:t>
            </a:r>
            <a:r>
              <a:t>3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：道路等级与轨迹复盘</a:t>
            </a:r>
          </a:p>
        </p:txBody>
      </p:sp>
      <p:sp>
        <p:nvSpPr>
          <p:cNvPr id="270" name="TextBox 5"/>
          <p:cNvSpPr txBox="1"/>
          <p:nvPr/>
        </p:nvSpPr>
        <p:spPr>
          <a:xfrm>
            <a:off x="21897116" y="347472"/>
            <a:ext cx="1282925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1300">
                <a:solidFill>
                  <a:srgbClr val="C6E7EE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道路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明细轨迹</a:t>
            </a:r>
          </a:p>
        </p:txBody>
      </p:sp>
      <p:graphicFrame>
        <p:nvGraphicFramePr>
          <p:cNvPr id="271" name="Table 6"/>
          <p:cNvGraphicFramePr/>
          <p:nvPr/>
        </p:nvGraphicFramePr>
        <p:xfrm>
          <a:off x="822960" y="1874518"/>
          <a:ext cx="22722840" cy="1069848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977639"/>
                <a:gridCol w="6812280"/>
                <a:gridCol w="11932920"/>
              </a:tblGrid>
              <a:tr h="133731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数据项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来源字段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数据表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计算方式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口径说明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道路等级统计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dws_road_class_analysis
MAX(stat_date)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按 </a:t>
                      </a:r>
                      <a:r>
                        <a:t>total_pass DESC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取前 </a:t>
                      </a:r>
                      <a:r>
                        <a:t>8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输出 </a:t>
                      </a:r>
                      <a:r>
                        <a:t>className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roadCount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totalPass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avgSpeedKmh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congestionLevel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、</a:t>
                      </a:r>
                      <a:r>
                        <a:t>avgLengthM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轨迹样本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dwd_taxi_trip
route_geom IS NOT NULL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按 trip_id DESC 取最新样本，默认 16 条、最多 30 条。</a:t>
                      </a:r>
                    </a:p>
                    <a:p>
                      <a:r>
                        <a:t>tripId = trip_id；devid = 设备号。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轨迹路径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dwd_taxi_trip.route_geom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解析 </a:t>
                      </a:r>
                      <a:r>
                        <a:t>LINESTRING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坐标，自动校验</a:t>
                      </a:r>
                      <a:r>
                        <a:t>/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纠正经纬度顺序。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仅保留哈尔滨范围内坐标，连续重复点去重，最多 </a:t>
                      </a:r>
                      <a:r>
                        <a:t>120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个点。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轨迹点数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gps_points_count / path.length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优先使用 </a:t>
                      </a:r>
                      <a:r>
                        <a:t>gps_points_count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；为空或 </a:t>
                      </a:r>
                      <a:r>
                        <a:t>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时使用解析出的 </a:t>
                      </a:r>
                      <a:r>
                        <a:t>path.length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轨迹里程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route_distance_m / route_geom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优先 </a:t>
                      </a:r>
                      <a:r>
                        <a:t>route_distance_m / 1000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缺失时按轨迹点 </a:t>
                      </a:r>
                      <a:r>
                        <a:t>haversine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距离累加，保留 </a:t>
                      </a:r>
                      <a:r>
                        <a:t>2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位小数。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轨迹均速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avg_speed_kmh / trip_duration_s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优先 </a:t>
                      </a:r>
                      <a:r>
                        <a:t>avg_speed_kmh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；缺失时 </a:t>
                      </a:r>
                      <a:r>
                        <a:t>distanceKm / trip_duration_s × 3600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若速度 </a:t>
                      </a:r>
                      <a:r>
                        <a:t>≤0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或 </a:t>
                      </a:r>
                      <a:r>
                        <a:t>&gt;120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，则用估算函数修正。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速度等级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由轨迹均速派生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avgSpeedKmh &lt; 18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：缓行。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18 ≤ avgSpeedKmh &lt; 35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：平稳。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avgSpeedKmh ≥ 35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：畅通。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Rectangle 2"/>
          <p:cNvSpPr/>
          <p:nvPr/>
        </p:nvSpPr>
        <p:spPr>
          <a:xfrm>
            <a:off x="0" y="-1"/>
            <a:ext cx="24384000" cy="1325882"/>
          </a:xfrm>
          <a:prstGeom prst="rect">
            <a:avLst/>
          </a:prstGeom>
          <a:solidFill>
            <a:srgbClr val="16314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ectangle 3"/>
          <p:cNvSpPr/>
          <p:nvPr/>
        </p:nvSpPr>
        <p:spPr>
          <a:xfrm>
            <a:off x="0" y="1325880"/>
            <a:ext cx="24384000" cy="73153"/>
          </a:xfrm>
          <a:prstGeom prst="rect">
            <a:avLst/>
          </a:prstGeom>
          <a:solidFill>
            <a:srgbClr val="0F96A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4"/>
          <p:cNvSpPr txBox="1"/>
          <p:nvPr/>
        </p:nvSpPr>
        <p:spPr>
          <a:xfrm>
            <a:off x="914400" y="256031"/>
            <a:ext cx="718851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计算口径 </a:t>
            </a:r>
            <a:r>
              <a:t>4</a:t>
            </a:r>
            <a:r>
              <a:rPr>
                <a:latin typeface="+mj-lt"/>
                <a:ea typeface="+mj-ea"/>
                <a:cs typeface="+mj-cs"/>
                <a:sym typeface="Helvetica Neue"/>
              </a:rPr>
              <a:t>：地图图层、派生展示与新鲜度</a:t>
            </a:r>
          </a:p>
        </p:txBody>
      </p:sp>
      <p:sp>
        <p:nvSpPr>
          <p:cNvPr id="277" name="TextBox 5"/>
          <p:cNvSpPr txBox="1"/>
          <p:nvPr/>
        </p:nvSpPr>
        <p:spPr>
          <a:xfrm>
            <a:off x="22415500" y="347472"/>
            <a:ext cx="76454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300">
                <a:solidFill>
                  <a:srgbClr val="C6E7EE"/>
                </a:solidFill>
              </a:defRPr>
            </a:lvl1pPr>
          </a:lstStyle>
          <a:p>
            <a:pPr>
              <a:defRPr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>
                <a:latin typeface="+mj-lt"/>
                <a:ea typeface="+mj-ea"/>
                <a:cs typeface="+mj-cs"/>
                <a:sym typeface="Helvetica Neue"/>
              </a:rPr>
              <a:t>前端派生</a:t>
            </a:r>
          </a:p>
        </p:txBody>
      </p:sp>
      <p:graphicFrame>
        <p:nvGraphicFramePr>
          <p:cNvPr id="278" name="Table 6"/>
          <p:cNvGraphicFramePr/>
          <p:nvPr/>
        </p:nvGraphicFramePr>
        <p:xfrm>
          <a:off x="822960" y="1874518"/>
          <a:ext cx="22722840" cy="1069848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977639"/>
                <a:gridCol w="6812280"/>
                <a:gridCol w="11932920"/>
              </a:tblGrid>
              <a:tr h="1337310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数据项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来源字段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数据表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6314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计算方式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口径说明</a:t>
                      </a:r>
                    </a:p>
                  </a:txBody>
                  <a:tcPr marL="73152" marR="73152" marT="73152" marB="73152" anchor="t" anchorCtr="0" horzOverflow="overflow">
                    <a:solidFill>
                      <a:srgbClr val="E2F1F8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地图区域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hotspots + trips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zone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来源于热点。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flow = passCount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，缺失时 </a:t>
                      </a:r>
                      <a:r>
                        <a:t>intensity × 5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activeVehicles = uniqueTaxis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，缺失时 </a:t>
                      </a:r>
                      <a:r>
                        <a:t>max(3, round(intensity / 1.4))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区域等级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热点排序位置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第 </a:t>
                      </a:r>
                      <a:r>
                        <a:t>1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个热点为高流量；第 </a:t>
                      </a:r>
                      <a:r>
                        <a:t>2-5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个为中流量；其余为低流量。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热力点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hotspots.intensity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第 </a:t>
                      </a:r>
                      <a:r>
                        <a:t>1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个热点 </a:t>
                      </a:r>
                      <a:r>
                        <a:t>intensity = 1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；其他点 </a:t>
                      </a:r>
                      <a:r>
                        <a:t>intensity = max(0.12, hotspot.intensity / 10)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，保留 </a:t>
                      </a:r>
                      <a:r>
                        <a:t>3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位小数。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地图边界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热点坐标 </a:t>
                      </a:r>
                      <a:r>
                        <a:t>+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轨迹点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boundsFor(allPoints)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：取所有点 </a:t>
                      </a:r>
                      <a:r>
                        <a:t>min/max lat/lon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无点时使用哈尔滨默认边界。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r>
                        <a:t>复盘样本速度占比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trips.avgSpeedKmh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快速：avgSpeedKmh ≥ 35；慢速：avgSpeedKmh &lt; 18；中速：其余。</a:t>
                      </a:r>
                    </a:p>
                    <a:p>
                      <a:r>
                        <a:t>用于“复盘样本”速度占比环图，不代表总采样轨迹。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服务统计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hotspots Top5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服务数据条形图使用热点 </a:t>
                      </a:r>
                      <a:r>
                        <a:t>Top5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的 </a:t>
                      </a:r>
                      <a:r>
                        <a:t>intensity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路段服务统计：频次</a:t>
                      </a:r>
                      <a:r>
                        <a:t>=count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，超速</a:t>
                      </a:r>
                      <a:r>
                        <a:t>=round(count×0.62)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，绕行</a:t>
                      </a:r>
                      <a:r>
                        <a:t>=round(count×0.42)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，为演示估算项。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AFCFE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>
                        <a:defRPr b="1"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数据新鲜度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58657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前端刷新 </a:t>
                      </a:r>
                      <a:r>
                        <a:t>+ API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缓存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前端每 </a:t>
                      </a:r>
                      <a:r>
                        <a:t>60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秒刷新。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API TTL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：</a:t>
                      </a:r>
                      <a:r>
                        <a:t>overview 300s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timeline 600s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hotspots/congested/map 900s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；</a:t>
                      </a:r>
                      <a:r>
                        <a:t>roadClasses/trips 1800s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  <a:endParaRPr>
                        <a:latin typeface="+mj-lt"/>
                        <a:ea typeface="+mj-ea"/>
                        <a:cs typeface="+mj-cs"/>
                        <a:sym typeface="Helvetica Neue"/>
                      </a:endParaRPr>
                    </a:p>
                    <a:p>
                      <a:pPr>
                        <a:defRPr sz="22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异常时返回 </a:t>
                      </a:r>
                      <a:r>
                        <a:t>fallback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。</a:t>
                      </a:r>
                    </a:p>
                  </a:txBody>
                  <a:tcPr marL="64008" marR="64008" marT="64008" marB="64008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Image 0" descr="Image 0"/>
          <p:cNvPicPr>
            <a:picLocks noChangeAspect="1"/>
          </p:cNvPicPr>
          <p:nvPr/>
        </p:nvPicPr>
        <p:blipFill>
          <a:blip r:embed="rId3">
            <a:alphaModFix amt="40000"/>
            <a:extLst/>
          </a:blip>
          <a:srcRect l="0" t="12163" r="0" b="6894"/>
          <a:stretch>
            <a:fillRect/>
          </a:stretch>
        </p:blipFill>
        <p:spPr>
          <a:xfrm>
            <a:off x="2302510" y="-3"/>
            <a:ext cx="7230110" cy="13716005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Text 0"/>
          <p:cNvSpPr txBox="1"/>
          <p:nvPr/>
        </p:nvSpPr>
        <p:spPr>
          <a:xfrm>
            <a:off x="1082038" y="1064260"/>
            <a:ext cx="20958814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50000"/>
              </a:lnSpc>
              <a:spcBef>
                <a:spcPts val="0"/>
              </a:spcBef>
              <a:defRPr sz="7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数据汇聚到治理能力的跃迁</a:t>
            </a:r>
          </a:p>
        </p:txBody>
      </p:sp>
      <p:pic>
        <p:nvPicPr>
          <p:cNvPr id="282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rcRect l="275" t="0" r="274" b="0"/>
          <a:stretch>
            <a:fillRect/>
          </a:stretch>
        </p:blipFill>
        <p:spPr>
          <a:xfrm>
            <a:off x="2917188" y="3284220"/>
            <a:ext cx="1376682" cy="13830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rcRect l="275" t="0" r="274" b="0"/>
          <a:stretch>
            <a:fillRect/>
          </a:stretch>
        </p:blipFill>
        <p:spPr>
          <a:xfrm>
            <a:off x="1699259" y="6663690"/>
            <a:ext cx="1376684" cy="13830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rcRect l="275" t="0" r="274" b="0"/>
          <a:stretch>
            <a:fillRect/>
          </a:stretch>
        </p:blipFill>
        <p:spPr>
          <a:xfrm>
            <a:off x="3075938" y="10445750"/>
            <a:ext cx="1376682" cy="138303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 1"/>
          <p:cNvSpPr txBox="1"/>
          <p:nvPr/>
        </p:nvSpPr>
        <p:spPr>
          <a:xfrm>
            <a:off x="2926077" y="3464559"/>
            <a:ext cx="1377954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6" name="Text 2"/>
          <p:cNvSpPr txBox="1"/>
          <p:nvPr/>
        </p:nvSpPr>
        <p:spPr>
          <a:xfrm>
            <a:off x="7042149" y="3442970"/>
            <a:ext cx="1330833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打破孤岛一源多用</a:t>
            </a:r>
          </a:p>
        </p:txBody>
      </p:sp>
      <p:sp>
        <p:nvSpPr>
          <p:cNvPr id="287" name="Text 3"/>
          <p:cNvSpPr txBox="1"/>
          <p:nvPr/>
        </p:nvSpPr>
        <p:spPr>
          <a:xfrm>
            <a:off x="7042150" y="4272279"/>
            <a:ext cx="15590520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交通部门、出租车企业、支付平台数据汇聚统一中台，结束数据割裂局面，实现跨部门数据共享与业务协同。</a:t>
            </a:r>
          </a:p>
        </p:txBody>
      </p:sp>
      <p:sp>
        <p:nvSpPr>
          <p:cNvPr id="288" name="Text 4"/>
          <p:cNvSpPr txBox="1"/>
          <p:nvPr/>
        </p:nvSpPr>
        <p:spPr>
          <a:xfrm>
            <a:off x="1709420" y="6858000"/>
            <a:ext cx="1377953" cy="977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9" name="Text 5"/>
          <p:cNvSpPr txBox="1"/>
          <p:nvPr/>
        </p:nvSpPr>
        <p:spPr>
          <a:xfrm>
            <a:off x="4210050" y="6663690"/>
            <a:ext cx="1541272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洞察规律读懂城市</a:t>
            </a:r>
          </a:p>
        </p:txBody>
      </p:sp>
      <p:sp>
        <p:nvSpPr>
          <p:cNvPr id="290" name="Text 6"/>
          <p:cNvSpPr txBox="1"/>
          <p:nvPr/>
        </p:nvSpPr>
        <p:spPr>
          <a:xfrm>
            <a:off x="4210050" y="7493000"/>
            <a:ext cx="15590520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OD矩阵发现通勤走廊，热点分析识别夜经济，速度分布诊断拥堵，将原始数据转化为可理解的城市运行规律。</a:t>
            </a:r>
          </a:p>
        </p:txBody>
      </p:sp>
      <p:sp>
        <p:nvSpPr>
          <p:cNvPr id="291" name="Text 7"/>
          <p:cNvSpPr txBox="1"/>
          <p:nvPr/>
        </p:nvSpPr>
        <p:spPr>
          <a:xfrm>
            <a:off x="3087370" y="10651490"/>
            <a:ext cx="1377953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6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2" name="Text 8"/>
          <p:cNvSpPr txBox="1"/>
          <p:nvPr/>
        </p:nvSpPr>
        <p:spPr>
          <a:xfrm>
            <a:off x="6816089" y="9884409"/>
            <a:ext cx="1314069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0439E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智能决策自动响应</a:t>
            </a:r>
          </a:p>
        </p:txBody>
      </p:sp>
      <p:sp>
        <p:nvSpPr>
          <p:cNvPr id="293" name="Text 9"/>
          <p:cNvSpPr txBox="1"/>
          <p:nvPr/>
        </p:nvSpPr>
        <p:spPr>
          <a:xfrm>
            <a:off x="6816090" y="10713718"/>
            <a:ext cx="15589252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50000"/>
              </a:lnSpc>
              <a:spcBef>
                <a:spcPts val="0"/>
              </a:spcBef>
              <a:defRPr sz="28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异常自动预警、运力智能调度、政策效果量化评估，数据中台成为城市治理能力的数字孪生，让交通运行可感知、可分析、可决策、可优化。</a:t>
            </a:r>
          </a:p>
        </p:txBody>
      </p:sp>
      <p:sp>
        <p:nvSpPr>
          <p:cNvPr id="294" name="文本框 15"/>
          <p:cNvSpPr txBox="1"/>
          <p:nvPr>
            <p:ph type="sldNum" sz="quarter" idx="4294967295"/>
          </p:nvPr>
        </p:nvSpPr>
        <p:spPr>
          <a:xfrm>
            <a:off x="23164832" y="12861656"/>
            <a:ext cx="449850" cy="7289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7" tIns="91437" rIns="91437" bIns="91437" anchor="t"/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